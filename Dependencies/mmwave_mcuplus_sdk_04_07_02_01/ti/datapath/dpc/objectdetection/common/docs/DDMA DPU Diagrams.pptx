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9296400" cy="14770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85362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666253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047146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652">
          <p15:clr>
            <a:srgbClr val="A4A3A4"/>
          </p15:clr>
        </p15:guide>
        <p15:guide id="2" pos="29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1" autoAdjust="0"/>
    <p:restoredTop sz="94660"/>
  </p:normalViewPr>
  <p:slideViewPr>
    <p:cSldViewPr snapToGrid="0">
      <p:cViewPr varScale="1">
        <p:scale>
          <a:sx n="91" d="100"/>
          <a:sy n="91" d="100"/>
        </p:scale>
        <p:origin x="464" y="52"/>
      </p:cViewPr>
      <p:guideLst>
        <p:guide orient="horz" pos="1620"/>
        <p:guide pos="287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652"/>
        <p:guide pos="29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6687D7-76F0-8040-93B6-084C7529F854}"/>
              </a:ext>
            </a:extLst>
          </p:cNvPr>
          <p:cNvSpPr txBox="1"/>
          <p:nvPr/>
        </p:nvSpPr>
        <p:spPr>
          <a:xfrm>
            <a:off x="4705815" y="47801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610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815B5F2-A5A7-1E49-BC30-BA3F759961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6851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 descr="A picture containing drawing, cup&#10;&#10;Description automatically generated">
            <a:extLst>
              <a:ext uri="{FF2B5EF4-FFF2-40B4-BE49-F238E27FC236}">
                <a16:creationId xmlns:a16="http://schemas.microsoft.com/office/drawing/2014/main" id="{7CC34E39-7310-7442-846F-66689DD005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68" y="4782676"/>
            <a:ext cx="1563597" cy="19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1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8" y="786357"/>
            <a:ext cx="8467725" cy="3709449"/>
          </a:xfrm>
        </p:spPr>
        <p:txBody>
          <a:bodyPr/>
          <a:lstStyle>
            <a:lvl1pPr>
              <a:spcBef>
                <a:spcPts val="667"/>
              </a:spcBef>
              <a:defRPr/>
            </a:lvl1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5" y="889398"/>
            <a:ext cx="4157663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8"/>
            <a:ext cx="4157662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548F6-AAA9-4A8D-A869-511B3DFE3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C35C9-3222-4444-B33E-8AB075BE83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4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7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8"/>
          </a:xfrm>
        </p:spPr>
        <p:txBody>
          <a:bodyPr/>
          <a:lstStyle>
            <a:lvl1pPr marL="0" indent="0">
              <a:buNone/>
              <a:defRPr sz="1700"/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97EEC-B5BC-42C5-B73F-31CC660D4D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07163"/>
            <a:ext cx="8458200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378" y="794149"/>
            <a:ext cx="8467725" cy="37016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67503" y="4442792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pPr>
              <a:defRPr/>
            </a:pPr>
            <a:fld id="{B6C70261-DCF8-4A97-9502-E8EEF2364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663C74-62AB-B64B-BCBB-0866ABE6E2D3}"/>
              </a:ext>
            </a:extLst>
          </p:cNvPr>
          <p:cNvCxnSpPr>
            <a:cxnSpLocks/>
          </p:cNvCxnSpPr>
          <p:nvPr/>
        </p:nvCxnSpPr>
        <p:spPr>
          <a:xfrm>
            <a:off x="0" y="4656947"/>
            <a:ext cx="89288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1">
            <a:extLst>
              <a:ext uri="{FF2B5EF4-FFF2-40B4-BE49-F238E27FC236}">
                <a16:creationId xmlns:a16="http://schemas.microsoft.com/office/drawing/2014/main" id="{BBEA79FD-0CFB-464E-959F-0C18C6048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013" y="4646685"/>
            <a:ext cx="2111375" cy="184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6179" tIns="38088" rIns="76179" bIns="3808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700" dirty="0">
                <a:cs typeface="+mn-cs"/>
              </a:rPr>
              <a:t>TI Confidential – NDA Restrictions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6" r:id="rId2"/>
    <p:sldLayoutId id="2147483735" r:id="rId3"/>
    <p:sldLayoutId id="2147483750" r:id="rId4"/>
    <p:sldLayoutId id="2147483709" r:id="rId5"/>
    <p:sldLayoutId id="2147483711" r:id="rId6"/>
    <p:sldLayoutId id="2147483712" r:id="rId7"/>
    <p:sldLayoutId id="2147483713" r:id="rId8"/>
    <p:sldLayoutId id="2147483715" r:id="rId9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5pPr>
      <a:lvl6pPr marL="380895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6pPr>
      <a:lvl7pPr marL="76179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7pPr>
      <a:lvl8pPr marL="114268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8pPr>
      <a:lvl9pPr marL="15235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9pPr>
    </p:titleStyle>
    <p:bodyStyle>
      <a:lvl1pPr marL="189124" indent="-189124" algn="l" rtl="0" eaLnBrk="1" fontAlgn="base" hangingPunct="1">
        <a:spcBef>
          <a:spcPts val="667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78763" indent="-194416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711530" indent="-137548" algn="l" rtl="0" eaLnBrk="1" fontAlgn="base" hangingPunct="1">
        <a:spcBef>
          <a:spcPct val="15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001168" indent="-194416" algn="l" rtl="0" eaLnBrk="1" fontAlgn="base" hangingPunct="1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240546" indent="-144163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1621441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6pPr>
      <a:lvl7pPr marL="2002336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7pPr>
      <a:lvl8pPr marL="2383230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8pPr>
      <a:lvl9pPr marL="2764124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895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79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68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57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467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2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25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146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8072-4956-430B-955C-F6956E1E6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DDMA DPU 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A7A41D-0549-4996-BF47-8671A936F2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3515E-ECA9-4C83-AC85-8EBA696A7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6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3515E-ECA9-4C83-AC85-8EBA696A7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E27DE1-EEE5-49E8-B427-0612C16608B5}"/>
              </a:ext>
            </a:extLst>
          </p:cNvPr>
          <p:cNvGraphicFramePr>
            <a:graphicFrameLocks noGrp="1"/>
          </p:cNvGraphicFramePr>
          <p:nvPr/>
        </p:nvGraphicFramePr>
        <p:xfrm>
          <a:off x="1912280" y="1744662"/>
          <a:ext cx="1407160" cy="1362075"/>
        </p:xfrm>
        <a:graphic>
          <a:graphicData uri="http://schemas.openxmlformats.org/drawingml/2006/table">
            <a:tbl>
              <a:tblPr firstRow="1" firstCol="1" bandRow="1"/>
              <a:tblGrid>
                <a:gridCol w="351790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1674140764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32016054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3830809036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83716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78877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7E74D8-E6B5-42B7-B35A-6A010DB6E516}"/>
              </a:ext>
            </a:extLst>
          </p:cNvPr>
          <p:cNvCxnSpPr/>
          <p:nvPr/>
        </p:nvCxnSpPr>
        <p:spPr>
          <a:xfrm>
            <a:off x="2023723" y="1600200"/>
            <a:ext cx="1155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10558D-23A3-4CFD-9FF3-119F6E9E1486}"/>
              </a:ext>
            </a:extLst>
          </p:cNvPr>
          <p:cNvSpPr txBox="1"/>
          <p:nvPr/>
        </p:nvSpPr>
        <p:spPr>
          <a:xfrm>
            <a:off x="2392023" y="1371600"/>
            <a:ext cx="4635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RxAnt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E51DA5-7487-4991-9B49-C3EE89769DF1}"/>
              </a:ext>
            </a:extLst>
          </p:cNvPr>
          <p:cNvCxnSpPr/>
          <p:nvPr/>
        </p:nvCxnSpPr>
        <p:spPr>
          <a:xfrm>
            <a:off x="1757023" y="1866900"/>
            <a:ext cx="0" cy="11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19CF19-36C6-4DD2-BA94-3D1D0DEC6AEF}"/>
              </a:ext>
            </a:extLst>
          </p:cNvPr>
          <p:cNvSpPr txBox="1"/>
          <p:nvPr/>
        </p:nvSpPr>
        <p:spPr>
          <a:xfrm rot="16200000">
            <a:off x="1169128" y="2161723"/>
            <a:ext cx="8050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RangeBin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4EE46E8-DF4E-45FC-AAF4-96A98A51E9D9}"/>
              </a:ext>
            </a:extLst>
          </p:cNvPr>
          <p:cNvGraphicFramePr>
            <a:graphicFrameLocks noGrp="1"/>
          </p:cNvGraphicFramePr>
          <p:nvPr/>
        </p:nvGraphicFramePr>
        <p:xfrm>
          <a:off x="5261294" y="1706562"/>
          <a:ext cx="1568449" cy="1362075"/>
        </p:xfrm>
        <a:graphic>
          <a:graphicData uri="http://schemas.openxmlformats.org/drawingml/2006/table">
            <a:tbl>
              <a:tblPr firstRow="1" firstCol="1" bandRow="1"/>
              <a:tblGrid>
                <a:gridCol w="1568449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83716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nBlock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78877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BB9D47C-A244-4612-BA6C-5ECDE0FCFEC6}"/>
              </a:ext>
            </a:extLst>
          </p:cNvPr>
          <p:cNvCxnSpPr/>
          <p:nvPr/>
        </p:nvCxnSpPr>
        <p:spPr>
          <a:xfrm>
            <a:off x="5118738" y="1828800"/>
            <a:ext cx="0" cy="11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3362CA9-C307-4357-A875-ED61ED3BCCCA}"/>
              </a:ext>
            </a:extLst>
          </p:cNvPr>
          <p:cNvSpPr/>
          <p:nvPr/>
        </p:nvSpPr>
        <p:spPr>
          <a:xfrm>
            <a:off x="1912279" y="1751012"/>
            <a:ext cx="1407159" cy="439738"/>
          </a:xfrm>
          <a:prstGeom prst="rect">
            <a:avLst/>
          </a:prstGeom>
          <a:solidFill>
            <a:srgbClr val="FF0000">
              <a:alpha val="28000"/>
            </a:srgb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FD2AE7-5CFF-4098-89F3-9C689F03E89A}"/>
              </a:ext>
            </a:extLst>
          </p:cNvPr>
          <p:cNvSpPr txBox="1"/>
          <p:nvPr/>
        </p:nvSpPr>
        <p:spPr>
          <a:xfrm rot="16200000">
            <a:off x="4537194" y="2123623"/>
            <a:ext cx="8050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Block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BB0D76-2A63-46BF-94B9-E30BEAB37F61}"/>
              </a:ext>
            </a:extLst>
          </p:cNvPr>
          <p:cNvSpPr txBox="1"/>
          <p:nvPr/>
        </p:nvSpPr>
        <p:spPr>
          <a:xfrm>
            <a:off x="1757023" y="3495181"/>
            <a:ext cx="188102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Range bins per block = x</a:t>
            </a:r>
          </a:p>
          <a:p>
            <a:r>
              <a:rPr lang="en-US" sz="1100" dirty="0"/>
              <a:t>Rx Antenna per block = 4</a:t>
            </a:r>
          </a:p>
          <a:p>
            <a:r>
              <a:rPr lang="en-US" sz="1100" dirty="0"/>
              <a:t>nBlock = nRangeBin/x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FF52D6-4F44-45C5-8CF8-43F209B0DEAA}"/>
              </a:ext>
            </a:extLst>
          </p:cNvPr>
          <p:cNvCxnSpPr/>
          <p:nvPr/>
        </p:nvCxnSpPr>
        <p:spPr>
          <a:xfrm>
            <a:off x="3759200" y="2451100"/>
            <a:ext cx="717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E1C4D9-0A24-41A1-AF6F-949002E4AF0B}"/>
              </a:ext>
            </a:extLst>
          </p:cNvPr>
          <p:cNvCxnSpPr/>
          <p:nvPr/>
        </p:nvCxnSpPr>
        <p:spPr>
          <a:xfrm>
            <a:off x="3490076" y="1706562"/>
            <a:ext cx="0" cy="484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5E05E31-4B66-46EA-9BEC-7BAE62BE6691}"/>
              </a:ext>
            </a:extLst>
          </p:cNvPr>
          <p:cNvSpPr txBox="1"/>
          <p:nvPr/>
        </p:nvSpPr>
        <p:spPr>
          <a:xfrm>
            <a:off x="3490074" y="1779379"/>
            <a:ext cx="87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Range Bins Per Block</a:t>
            </a:r>
          </a:p>
        </p:txBody>
      </p:sp>
    </p:spTree>
    <p:extLst>
      <p:ext uri="{BB962C8B-B14F-4D97-AF65-F5344CB8AC3E}">
        <p14:creationId xmlns:p14="http://schemas.microsoft.com/office/powerpoint/2010/main" val="2962428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39A5FB-672A-49A0-BEE0-51C26E3E6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C52F08-588C-488E-A5AB-DF69250DE86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768330-70BA-4BD9-8D7D-243031A68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006714"/>
              </p:ext>
            </p:extLst>
          </p:nvPr>
        </p:nvGraphicFramePr>
        <p:xfrm>
          <a:off x="5195059" y="1886989"/>
          <a:ext cx="816182" cy="908050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DB042BD-2422-40FB-AC0A-2614D7A862A9}"/>
              </a:ext>
            </a:extLst>
          </p:cNvPr>
          <p:cNvCxnSpPr>
            <a:cxnSpLocks/>
          </p:cNvCxnSpPr>
          <p:nvPr/>
        </p:nvCxnSpPr>
        <p:spPr>
          <a:xfrm>
            <a:off x="5058711" y="2001248"/>
            <a:ext cx="0" cy="709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8149FA-D386-4975-AD90-78E7D92A1DE7}"/>
              </a:ext>
            </a:extLst>
          </p:cNvPr>
          <p:cNvSpPr txBox="1"/>
          <p:nvPr/>
        </p:nvSpPr>
        <p:spPr>
          <a:xfrm rot="16200000">
            <a:off x="4548444" y="2040753"/>
            <a:ext cx="8050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RxAnt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507A09-F1D9-4D5F-84F8-9EA375306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915517"/>
              </p:ext>
            </p:extLst>
          </p:nvPr>
        </p:nvGraphicFramePr>
        <p:xfrm>
          <a:off x="665165" y="1886989"/>
          <a:ext cx="1407160" cy="908050"/>
        </p:xfrm>
        <a:graphic>
          <a:graphicData uri="http://schemas.openxmlformats.org/drawingml/2006/table">
            <a:tbl>
              <a:tblPr firstRow="1" firstCol="1" bandRow="1"/>
              <a:tblGrid>
                <a:gridCol w="351790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1674140764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32016054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3830809036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24A3A5-9508-4401-8A58-BD3182097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024908"/>
              </p:ext>
            </p:extLst>
          </p:nvPr>
        </p:nvGraphicFramePr>
        <p:xfrm>
          <a:off x="2931160" y="1886989"/>
          <a:ext cx="351790" cy="908050"/>
        </p:xfrm>
        <a:graphic>
          <a:graphicData uri="http://schemas.openxmlformats.org/drawingml/2006/table">
            <a:tbl>
              <a:tblPr firstRow="1" firstCol="1" bandRow="1"/>
              <a:tblGrid>
                <a:gridCol w="351790">
                  <a:extLst>
                    <a:ext uri="{9D8B030D-6E8A-4147-A177-3AD203B41FA5}">
                      <a16:colId xmlns:a16="http://schemas.microsoft.com/office/drawing/2014/main" val="1959285723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41651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830474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747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014494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0E538C-11BD-485F-9334-69BA21CF901C}"/>
              </a:ext>
            </a:extLst>
          </p:cNvPr>
          <p:cNvCxnSpPr/>
          <p:nvPr/>
        </p:nvCxnSpPr>
        <p:spPr>
          <a:xfrm>
            <a:off x="2072325" y="2009227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49DAC7-81E9-466E-9EA1-39FEE36DA43E}"/>
              </a:ext>
            </a:extLst>
          </p:cNvPr>
          <p:cNvCxnSpPr/>
          <p:nvPr/>
        </p:nvCxnSpPr>
        <p:spPr>
          <a:xfrm>
            <a:off x="2072324" y="2231477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6E3E55-E25F-4B31-8E36-084D6FFB7DD1}"/>
              </a:ext>
            </a:extLst>
          </p:cNvPr>
          <p:cNvCxnSpPr/>
          <p:nvPr/>
        </p:nvCxnSpPr>
        <p:spPr>
          <a:xfrm>
            <a:off x="2072323" y="2449872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73F450-FEE6-4ACB-9C38-362A85DDBDB8}"/>
              </a:ext>
            </a:extLst>
          </p:cNvPr>
          <p:cNvCxnSpPr/>
          <p:nvPr/>
        </p:nvCxnSpPr>
        <p:spPr>
          <a:xfrm>
            <a:off x="2072323" y="2678472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CB9EAA5-FDE7-46F2-BD1F-722262F29E20}"/>
              </a:ext>
            </a:extLst>
          </p:cNvPr>
          <p:cNvSpPr/>
          <p:nvPr/>
        </p:nvSpPr>
        <p:spPr>
          <a:xfrm>
            <a:off x="665164" y="1891073"/>
            <a:ext cx="1407159" cy="223836"/>
          </a:xfrm>
          <a:prstGeom prst="rect">
            <a:avLst/>
          </a:prstGeom>
          <a:solidFill>
            <a:srgbClr val="FF0000">
              <a:alpha val="28000"/>
            </a:srgb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32FA6F-6340-4A12-8E69-BD9EE1436D77}"/>
              </a:ext>
            </a:extLst>
          </p:cNvPr>
          <p:cNvSpPr/>
          <p:nvPr/>
        </p:nvSpPr>
        <p:spPr>
          <a:xfrm>
            <a:off x="665164" y="2113774"/>
            <a:ext cx="1407159" cy="223836"/>
          </a:xfrm>
          <a:prstGeom prst="rect">
            <a:avLst/>
          </a:prstGeom>
          <a:solidFill>
            <a:srgbClr val="FF0000">
              <a:alpha val="28000"/>
            </a:srgb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23F46BC-6F2A-4379-B10F-76327174C773}"/>
              </a:ext>
            </a:extLst>
          </p:cNvPr>
          <p:cNvCxnSpPr>
            <a:cxnSpLocks/>
          </p:cNvCxnSpPr>
          <p:nvPr/>
        </p:nvCxnSpPr>
        <p:spPr>
          <a:xfrm>
            <a:off x="531814" y="1997207"/>
            <a:ext cx="0" cy="681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1E53982-4659-4602-A013-898DBB6FCD58}"/>
              </a:ext>
            </a:extLst>
          </p:cNvPr>
          <p:cNvSpPr txBox="1"/>
          <p:nvPr/>
        </p:nvSpPr>
        <p:spPr>
          <a:xfrm rot="16200000">
            <a:off x="-28049" y="2047103"/>
            <a:ext cx="8050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RxAnt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E8D528-25D8-426B-9310-18B9E9EF95DE}"/>
              </a:ext>
            </a:extLst>
          </p:cNvPr>
          <p:cNvCxnSpPr>
            <a:cxnSpLocks/>
          </p:cNvCxnSpPr>
          <p:nvPr/>
        </p:nvCxnSpPr>
        <p:spPr>
          <a:xfrm>
            <a:off x="708638" y="1725520"/>
            <a:ext cx="1419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E1D5406-AEA2-4A2D-ABBD-AF3420017088}"/>
              </a:ext>
            </a:extLst>
          </p:cNvPr>
          <p:cNvSpPr txBox="1"/>
          <p:nvPr/>
        </p:nvSpPr>
        <p:spPr>
          <a:xfrm>
            <a:off x="1074491" y="1474339"/>
            <a:ext cx="8050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RangeBin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878619B-BB40-4CF0-A626-E87136A76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724911"/>
              </p:ext>
            </p:extLst>
          </p:nvPr>
        </p:nvGraphicFramePr>
        <p:xfrm>
          <a:off x="6011240" y="1886989"/>
          <a:ext cx="816182" cy="908050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ECE2F0-246F-4C8B-8B92-A5C06B296466}"/>
              </a:ext>
            </a:extLst>
          </p:cNvPr>
          <p:cNvCxnSpPr/>
          <p:nvPr/>
        </p:nvCxnSpPr>
        <p:spPr>
          <a:xfrm>
            <a:off x="6827424" y="2041615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A8460FD-9781-4BA6-9CC3-AF6B25F85BAB}"/>
              </a:ext>
            </a:extLst>
          </p:cNvPr>
          <p:cNvCxnSpPr/>
          <p:nvPr/>
        </p:nvCxnSpPr>
        <p:spPr>
          <a:xfrm>
            <a:off x="6827423" y="2263865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3C41A3-B6E8-446E-B31E-694FBDF73281}"/>
              </a:ext>
            </a:extLst>
          </p:cNvPr>
          <p:cNvCxnSpPr/>
          <p:nvPr/>
        </p:nvCxnSpPr>
        <p:spPr>
          <a:xfrm>
            <a:off x="6827422" y="2482260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2FF507-8CAC-415C-84AA-1E396FB9C25A}"/>
              </a:ext>
            </a:extLst>
          </p:cNvPr>
          <p:cNvCxnSpPr/>
          <p:nvPr/>
        </p:nvCxnSpPr>
        <p:spPr>
          <a:xfrm>
            <a:off x="6827422" y="2710860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E84E8A0-43A5-466C-9DD5-E935805D9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194671"/>
              </p:ext>
            </p:extLst>
          </p:nvPr>
        </p:nvGraphicFramePr>
        <p:xfrm>
          <a:off x="7643603" y="1886989"/>
          <a:ext cx="816182" cy="908050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3754895154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00220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204748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913571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771577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150967-9887-42C6-8DCD-4B1C411385A7}"/>
              </a:ext>
            </a:extLst>
          </p:cNvPr>
          <p:cNvCxnSpPr>
            <a:cxnSpLocks/>
          </p:cNvCxnSpPr>
          <p:nvPr/>
        </p:nvCxnSpPr>
        <p:spPr>
          <a:xfrm>
            <a:off x="6011240" y="1735551"/>
            <a:ext cx="1419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90615DB-093F-432A-9A2D-89E53F0590DB}"/>
              </a:ext>
            </a:extLst>
          </p:cNvPr>
          <p:cNvSpPr txBox="1"/>
          <p:nvPr/>
        </p:nvSpPr>
        <p:spPr>
          <a:xfrm>
            <a:off x="6510848" y="1520107"/>
            <a:ext cx="8050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Block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027DE7-9A70-4153-944E-337ECEB402A1}"/>
              </a:ext>
            </a:extLst>
          </p:cNvPr>
          <p:cNvSpPr txBox="1"/>
          <p:nvPr/>
        </p:nvSpPr>
        <p:spPr>
          <a:xfrm>
            <a:off x="939066" y="3272829"/>
            <a:ext cx="30995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Range bins per block = 4</a:t>
            </a:r>
          </a:p>
          <a:p>
            <a:r>
              <a:rPr lang="en-US" sz="1100" dirty="0"/>
              <a:t>Rx Antenna per block = 1</a:t>
            </a:r>
          </a:p>
          <a:p>
            <a:r>
              <a:rPr lang="en-US" sz="1100" dirty="0"/>
              <a:t>nBlock = nRangeBin*</a:t>
            </a:r>
            <a:r>
              <a:rPr lang="en-US" sz="1100" dirty="0" err="1"/>
              <a:t>nRxAnt</a:t>
            </a:r>
            <a:r>
              <a:rPr lang="en-US" sz="1100" dirty="0"/>
              <a:t>/4 = </a:t>
            </a:r>
            <a:r>
              <a:rPr lang="en-US" sz="1100" dirty="0" err="1"/>
              <a:t>nRxAnt</a:t>
            </a:r>
            <a:r>
              <a:rPr lang="en-US" sz="1100" dirty="0"/>
              <a:t> * 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0CD19F-255E-4C47-B162-7CD396C1752C}"/>
              </a:ext>
            </a:extLst>
          </p:cNvPr>
          <p:cNvCxnSpPr/>
          <p:nvPr/>
        </p:nvCxnSpPr>
        <p:spPr>
          <a:xfrm>
            <a:off x="3829050" y="2337610"/>
            <a:ext cx="742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69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549313-38FE-40EB-9FE6-7D012A220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C52F08-588C-488E-A5AB-DF69250DE86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BE425A-C696-42A7-A8C1-5A90F7697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47720"/>
              </p:ext>
            </p:extLst>
          </p:nvPr>
        </p:nvGraphicFramePr>
        <p:xfrm>
          <a:off x="784545" y="1890713"/>
          <a:ext cx="777554" cy="1362075"/>
        </p:xfrm>
        <a:graphic>
          <a:graphicData uri="http://schemas.openxmlformats.org/drawingml/2006/table">
            <a:tbl>
              <a:tblPr firstRow="1" firstCol="1" bandRow="1"/>
              <a:tblGrid>
                <a:gridCol w="777554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83716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nBlock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78877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21088F5-C048-4EC9-A3E4-6C8D1A730E03}"/>
              </a:ext>
            </a:extLst>
          </p:cNvPr>
          <p:cNvCxnSpPr>
            <a:cxnSpLocks/>
          </p:cNvCxnSpPr>
          <p:nvPr/>
        </p:nvCxnSpPr>
        <p:spPr>
          <a:xfrm>
            <a:off x="641988" y="2012951"/>
            <a:ext cx="0" cy="11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2B291B7-F61E-45C5-8ADD-4709B215232B}"/>
              </a:ext>
            </a:extLst>
          </p:cNvPr>
          <p:cNvSpPr txBox="1"/>
          <p:nvPr/>
        </p:nvSpPr>
        <p:spPr>
          <a:xfrm rot="16200000">
            <a:off x="24804" y="2307774"/>
            <a:ext cx="8050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Block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FF59158-1B61-4E98-AE3F-BC6A95A13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66380"/>
              </p:ext>
            </p:extLst>
          </p:nvPr>
        </p:nvGraphicFramePr>
        <p:xfrm>
          <a:off x="1562099" y="1890712"/>
          <a:ext cx="777554" cy="1362075"/>
        </p:xfrm>
        <a:graphic>
          <a:graphicData uri="http://schemas.openxmlformats.org/drawingml/2006/table">
            <a:tbl>
              <a:tblPr firstRow="1" firstCol="1" bandRow="1"/>
              <a:tblGrid>
                <a:gridCol w="777554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83716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nBlock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7887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B01DC47-E422-4045-B5DC-5DCAECEC1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627654"/>
              </p:ext>
            </p:extLst>
          </p:nvPr>
        </p:nvGraphicFramePr>
        <p:xfrm>
          <a:off x="2339653" y="1890712"/>
          <a:ext cx="777554" cy="1362075"/>
        </p:xfrm>
        <a:graphic>
          <a:graphicData uri="http://schemas.openxmlformats.org/drawingml/2006/table">
            <a:tbl>
              <a:tblPr firstRow="1" firstCol="1" bandRow="1"/>
              <a:tblGrid>
                <a:gridCol w="777554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83716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nBlock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7887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BA1970-2AE7-4E2B-B89B-0AD458AB7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650340"/>
              </p:ext>
            </p:extLst>
          </p:nvPr>
        </p:nvGraphicFramePr>
        <p:xfrm>
          <a:off x="3117207" y="1890711"/>
          <a:ext cx="777554" cy="1362075"/>
        </p:xfrm>
        <a:graphic>
          <a:graphicData uri="http://schemas.openxmlformats.org/drawingml/2006/table">
            <a:tbl>
              <a:tblPr firstRow="1" firstCol="1" bandRow="1"/>
              <a:tblGrid>
                <a:gridCol w="777554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83716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nBlock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7887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42FEEC9-03EE-4EAB-8EE7-7BE52708E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489408"/>
              </p:ext>
            </p:extLst>
          </p:nvPr>
        </p:nvGraphicFramePr>
        <p:xfrm>
          <a:off x="3894761" y="1890711"/>
          <a:ext cx="777554" cy="1362075"/>
        </p:xfrm>
        <a:graphic>
          <a:graphicData uri="http://schemas.openxmlformats.org/drawingml/2006/table">
            <a:tbl>
              <a:tblPr firstRow="1" firstCol="1" bandRow="1"/>
              <a:tblGrid>
                <a:gridCol w="777554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 defTabSz="76179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 defTabSz="76179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 defTabSz="76179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 defTabSz="76179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 defTabSz="76179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83716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 defTabSz="76179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nBlock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788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8845CC1-6964-4F47-AE3D-80EB14E01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28171"/>
              </p:ext>
            </p:extLst>
          </p:nvPr>
        </p:nvGraphicFramePr>
        <p:xfrm>
          <a:off x="4672315" y="1890710"/>
          <a:ext cx="777554" cy="1362075"/>
        </p:xfrm>
        <a:graphic>
          <a:graphicData uri="http://schemas.openxmlformats.org/drawingml/2006/table">
            <a:tbl>
              <a:tblPr firstRow="1" firstCol="1" bandRow="1"/>
              <a:tblGrid>
                <a:gridCol w="777554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83716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nBlock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78877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31F60E-6E99-4A98-8AFB-164C5C14AA24}"/>
              </a:ext>
            </a:extLst>
          </p:cNvPr>
          <p:cNvCxnSpPr>
            <a:cxnSpLocks/>
          </p:cNvCxnSpPr>
          <p:nvPr/>
        </p:nvCxnSpPr>
        <p:spPr>
          <a:xfrm>
            <a:off x="5449869" y="2012951"/>
            <a:ext cx="23326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F59C9D-5F6F-4EA3-8686-2FA2C54BB17F}"/>
              </a:ext>
            </a:extLst>
          </p:cNvPr>
          <p:cNvCxnSpPr>
            <a:cxnSpLocks/>
          </p:cNvCxnSpPr>
          <p:nvPr/>
        </p:nvCxnSpPr>
        <p:spPr>
          <a:xfrm>
            <a:off x="5449868" y="2235201"/>
            <a:ext cx="23326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E4AD34-571F-462B-B11C-E8E61AA011A1}"/>
              </a:ext>
            </a:extLst>
          </p:cNvPr>
          <p:cNvCxnSpPr>
            <a:cxnSpLocks/>
          </p:cNvCxnSpPr>
          <p:nvPr/>
        </p:nvCxnSpPr>
        <p:spPr>
          <a:xfrm>
            <a:off x="5449867" y="2453596"/>
            <a:ext cx="23326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2DEF4E-4184-493B-BA06-682803018F92}"/>
              </a:ext>
            </a:extLst>
          </p:cNvPr>
          <p:cNvCxnSpPr>
            <a:cxnSpLocks/>
          </p:cNvCxnSpPr>
          <p:nvPr/>
        </p:nvCxnSpPr>
        <p:spPr>
          <a:xfrm>
            <a:off x="5449867" y="3130551"/>
            <a:ext cx="23326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83B075D-F0AC-4EC8-A468-75FAF0AEB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409245"/>
              </p:ext>
            </p:extLst>
          </p:nvPr>
        </p:nvGraphicFramePr>
        <p:xfrm>
          <a:off x="7098328" y="1880027"/>
          <a:ext cx="777554" cy="1362075"/>
        </p:xfrm>
        <a:graphic>
          <a:graphicData uri="http://schemas.openxmlformats.org/drawingml/2006/table">
            <a:tbl>
              <a:tblPr firstRow="1" firstCol="1" bandRow="1"/>
              <a:tblGrid>
                <a:gridCol w="777554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83716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nBlock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78877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77212524-05EC-4635-BF92-9356E94DBC6F}"/>
              </a:ext>
            </a:extLst>
          </p:cNvPr>
          <p:cNvSpPr/>
          <p:nvPr/>
        </p:nvSpPr>
        <p:spPr>
          <a:xfrm>
            <a:off x="739047" y="1834695"/>
            <a:ext cx="7230185" cy="14741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590C23-2AAA-4FE7-8995-65624EB8DCE9}"/>
              </a:ext>
            </a:extLst>
          </p:cNvPr>
          <p:cNvSpPr/>
          <p:nvPr/>
        </p:nvSpPr>
        <p:spPr>
          <a:xfrm>
            <a:off x="784545" y="2108200"/>
            <a:ext cx="7091337" cy="233845"/>
          </a:xfrm>
          <a:prstGeom prst="rect">
            <a:avLst/>
          </a:prstGeom>
          <a:noFill/>
          <a:ln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D21751-2063-4EAB-8D04-F5BEF1EDC8A2}"/>
              </a:ext>
            </a:extLst>
          </p:cNvPr>
          <p:cNvCxnSpPr>
            <a:cxnSpLocks/>
          </p:cNvCxnSpPr>
          <p:nvPr/>
        </p:nvCxnSpPr>
        <p:spPr>
          <a:xfrm flipH="1">
            <a:off x="5625324" y="1619251"/>
            <a:ext cx="508776" cy="742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F69D1AF-20D6-4B93-9879-9CC17230728B}"/>
              </a:ext>
            </a:extLst>
          </p:cNvPr>
          <p:cNvSpPr txBox="1"/>
          <p:nvPr/>
        </p:nvSpPr>
        <p:spPr>
          <a:xfrm>
            <a:off x="5879712" y="1403807"/>
            <a:ext cx="13013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Outer Block</a:t>
            </a:r>
          </a:p>
        </p:txBody>
      </p:sp>
    </p:spTree>
    <p:extLst>
      <p:ext uri="{BB962C8B-B14F-4D97-AF65-F5344CB8AC3E}">
        <p14:creationId xmlns:p14="http://schemas.microsoft.com/office/powerpoint/2010/main" val="3290133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2C51A-D628-4DC9-B251-0711E7E1F0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C52F08-588C-488E-A5AB-DF69250DE86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C115F5B-D627-46FE-8C02-718A6AB81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9" y="1552132"/>
            <a:ext cx="3845089" cy="20392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193367E-8E96-4C6C-B70C-F02B9A305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511" y="-59267"/>
            <a:ext cx="4959177" cy="4662474"/>
          </a:xfrm>
          <a:prstGeom prst="rect">
            <a:avLst/>
          </a:prstGeom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E9286F4-6840-4ACF-94BB-B5423EAF9F5C}"/>
              </a:ext>
            </a:extLst>
          </p:cNvPr>
          <p:cNvCxnSpPr>
            <a:cxnSpLocks/>
          </p:cNvCxnSpPr>
          <p:nvPr/>
        </p:nvCxnSpPr>
        <p:spPr>
          <a:xfrm>
            <a:off x="2362200" y="1708150"/>
            <a:ext cx="2578100" cy="1708150"/>
          </a:xfrm>
          <a:prstGeom prst="bentConnector3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1032E64-4C71-43B6-97A6-CFE408395A5F}"/>
              </a:ext>
            </a:extLst>
          </p:cNvPr>
          <p:cNvCxnSpPr>
            <a:cxnSpLocks/>
          </p:cNvCxnSpPr>
          <p:nvPr/>
        </p:nvCxnSpPr>
        <p:spPr>
          <a:xfrm>
            <a:off x="2362200" y="1708150"/>
            <a:ext cx="0" cy="1079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B9D21BF-1D98-4B3D-A64E-D7979B06446A}"/>
              </a:ext>
            </a:extLst>
          </p:cNvPr>
          <p:cNvCxnSpPr/>
          <p:nvPr/>
        </p:nvCxnSpPr>
        <p:spPr>
          <a:xfrm flipV="1">
            <a:off x="1473200" y="1629833"/>
            <a:ext cx="3369733" cy="1786467"/>
          </a:xfrm>
          <a:prstGeom prst="bentConnector3">
            <a:avLst>
              <a:gd name="adj1" fmla="val 60804"/>
            </a:avLst>
          </a:prstGeom>
          <a:ln w="28575">
            <a:solidFill>
              <a:schemeClr val="accent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B431B37-0814-45E1-965A-58DB540FC982}"/>
              </a:ext>
            </a:extLst>
          </p:cNvPr>
          <p:cNvCxnSpPr/>
          <p:nvPr/>
        </p:nvCxnSpPr>
        <p:spPr>
          <a:xfrm flipV="1">
            <a:off x="1481667" y="3337983"/>
            <a:ext cx="0" cy="78317"/>
          </a:xfrm>
          <a:prstGeom prst="line">
            <a:avLst/>
          </a:prstGeom>
          <a:ln w="28575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08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EEB47-EB5F-45F3-80DC-D2BAD73470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642100" y="4460081"/>
            <a:ext cx="2133600" cy="154782"/>
          </a:xfrm>
        </p:spPr>
        <p:txBody>
          <a:bodyPr/>
          <a:lstStyle/>
          <a:p>
            <a:pPr>
              <a:defRPr/>
            </a:pPr>
            <a:fld id="{D4C52F08-588C-488E-A5AB-DF69250DE86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3B670D-FF7E-44BC-95BC-BF2158957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310210"/>
              </p:ext>
            </p:extLst>
          </p:nvPr>
        </p:nvGraphicFramePr>
        <p:xfrm>
          <a:off x="1912277" y="1744662"/>
          <a:ext cx="3961464" cy="1362075"/>
        </p:xfrm>
        <a:graphic>
          <a:graphicData uri="http://schemas.openxmlformats.org/drawingml/2006/table">
            <a:tbl>
              <a:tblPr firstRow="1" firstCol="1" bandRow="1"/>
              <a:tblGrid>
                <a:gridCol w="330122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  <a:gridCol w="330122">
                  <a:extLst>
                    <a:ext uri="{9D8B030D-6E8A-4147-A177-3AD203B41FA5}">
                      <a16:colId xmlns:a16="http://schemas.microsoft.com/office/drawing/2014/main" val="1674140764"/>
                    </a:ext>
                  </a:extLst>
                </a:gridCol>
                <a:gridCol w="330122">
                  <a:extLst>
                    <a:ext uri="{9D8B030D-6E8A-4147-A177-3AD203B41FA5}">
                      <a16:colId xmlns:a16="http://schemas.microsoft.com/office/drawing/2014/main" val="32016054"/>
                    </a:ext>
                  </a:extLst>
                </a:gridCol>
                <a:gridCol w="330122">
                  <a:extLst>
                    <a:ext uri="{9D8B030D-6E8A-4147-A177-3AD203B41FA5}">
                      <a16:colId xmlns:a16="http://schemas.microsoft.com/office/drawing/2014/main" val="3830809036"/>
                    </a:ext>
                  </a:extLst>
                </a:gridCol>
                <a:gridCol w="330122">
                  <a:extLst>
                    <a:ext uri="{9D8B030D-6E8A-4147-A177-3AD203B41FA5}">
                      <a16:colId xmlns:a16="http://schemas.microsoft.com/office/drawing/2014/main" val="853570084"/>
                    </a:ext>
                  </a:extLst>
                </a:gridCol>
                <a:gridCol w="330122">
                  <a:extLst>
                    <a:ext uri="{9D8B030D-6E8A-4147-A177-3AD203B41FA5}">
                      <a16:colId xmlns:a16="http://schemas.microsoft.com/office/drawing/2014/main" val="1549232782"/>
                    </a:ext>
                  </a:extLst>
                </a:gridCol>
                <a:gridCol w="330122">
                  <a:extLst>
                    <a:ext uri="{9D8B030D-6E8A-4147-A177-3AD203B41FA5}">
                      <a16:colId xmlns:a16="http://schemas.microsoft.com/office/drawing/2014/main" val="3998720915"/>
                    </a:ext>
                  </a:extLst>
                </a:gridCol>
                <a:gridCol w="330122">
                  <a:extLst>
                    <a:ext uri="{9D8B030D-6E8A-4147-A177-3AD203B41FA5}">
                      <a16:colId xmlns:a16="http://schemas.microsoft.com/office/drawing/2014/main" val="774544171"/>
                    </a:ext>
                  </a:extLst>
                </a:gridCol>
                <a:gridCol w="330122">
                  <a:extLst>
                    <a:ext uri="{9D8B030D-6E8A-4147-A177-3AD203B41FA5}">
                      <a16:colId xmlns:a16="http://schemas.microsoft.com/office/drawing/2014/main" val="865187395"/>
                    </a:ext>
                  </a:extLst>
                </a:gridCol>
                <a:gridCol w="330122">
                  <a:extLst>
                    <a:ext uri="{9D8B030D-6E8A-4147-A177-3AD203B41FA5}">
                      <a16:colId xmlns:a16="http://schemas.microsoft.com/office/drawing/2014/main" val="1076844160"/>
                    </a:ext>
                  </a:extLst>
                </a:gridCol>
                <a:gridCol w="330122">
                  <a:extLst>
                    <a:ext uri="{9D8B030D-6E8A-4147-A177-3AD203B41FA5}">
                      <a16:colId xmlns:a16="http://schemas.microsoft.com/office/drawing/2014/main" val="2584030457"/>
                    </a:ext>
                  </a:extLst>
                </a:gridCol>
                <a:gridCol w="330122">
                  <a:extLst>
                    <a:ext uri="{9D8B030D-6E8A-4147-A177-3AD203B41FA5}">
                      <a16:colId xmlns:a16="http://schemas.microsoft.com/office/drawing/2014/main" val="573523062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83716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78877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A03D5D7-D1CC-486A-BFB9-4129644136C3}"/>
              </a:ext>
            </a:extLst>
          </p:cNvPr>
          <p:cNvCxnSpPr/>
          <p:nvPr/>
        </p:nvCxnSpPr>
        <p:spPr>
          <a:xfrm>
            <a:off x="2023723" y="1600200"/>
            <a:ext cx="1155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E917AD-D9C3-4EB8-9F83-7264747FF738}"/>
              </a:ext>
            </a:extLst>
          </p:cNvPr>
          <p:cNvCxnSpPr/>
          <p:nvPr/>
        </p:nvCxnSpPr>
        <p:spPr>
          <a:xfrm>
            <a:off x="1757023" y="1866900"/>
            <a:ext cx="0" cy="11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B53F51A-E9F4-4C17-B1F2-4A245A7FB2AC}"/>
              </a:ext>
            </a:extLst>
          </p:cNvPr>
          <p:cNvSpPr txBox="1"/>
          <p:nvPr/>
        </p:nvSpPr>
        <p:spPr>
          <a:xfrm>
            <a:off x="258570" y="1327584"/>
            <a:ext cx="3307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 = NumDopplerSubBins = NumChirps/NumBands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0C016B-1132-40B9-B5F7-79359A396376}"/>
              </a:ext>
            </a:extLst>
          </p:cNvPr>
          <p:cNvSpPr txBox="1"/>
          <p:nvPr/>
        </p:nvSpPr>
        <p:spPr>
          <a:xfrm rot="16200000">
            <a:off x="30482" y="1327584"/>
            <a:ext cx="29962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NumRangeBins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96F8981-71A9-4377-B721-AE60430DF7A7}"/>
              </a:ext>
            </a:extLst>
          </p:cNvPr>
          <p:cNvSpPr/>
          <p:nvPr/>
        </p:nvSpPr>
        <p:spPr>
          <a:xfrm rot="16200000">
            <a:off x="2469926" y="2716095"/>
            <a:ext cx="174396" cy="12446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337D1CB0-203A-42F8-A013-1F1F777E0C52}"/>
              </a:ext>
            </a:extLst>
          </p:cNvPr>
          <p:cNvSpPr/>
          <p:nvPr/>
        </p:nvSpPr>
        <p:spPr>
          <a:xfrm rot="5400000">
            <a:off x="3803426" y="987823"/>
            <a:ext cx="174396" cy="12446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E34342-C933-4E1E-BCE8-16B5ECE6AE70}"/>
              </a:ext>
            </a:extLst>
          </p:cNvPr>
          <p:cNvSpPr txBox="1"/>
          <p:nvPr/>
        </p:nvSpPr>
        <p:spPr>
          <a:xfrm>
            <a:off x="3344670" y="1229830"/>
            <a:ext cx="32974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numDopplerGatesPerPing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B177CD-2FFD-4BA9-9140-390233D1C1F3}"/>
              </a:ext>
            </a:extLst>
          </p:cNvPr>
          <p:cNvSpPr txBox="1"/>
          <p:nvPr/>
        </p:nvSpPr>
        <p:spPr>
          <a:xfrm>
            <a:off x="1757023" y="3446585"/>
            <a:ext cx="32974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numDopplerGatesPerPing</a:t>
            </a:r>
          </a:p>
        </p:txBody>
      </p:sp>
    </p:spTree>
    <p:extLst>
      <p:ext uri="{BB962C8B-B14F-4D97-AF65-F5344CB8AC3E}">
        <p14:creationId xmlns:p14="http://schemas.microsoft.com/office/powerpoint/2010/main" val="2011685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41A84A-52DD-4197-A9B6-EFE1033386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C52F08-588C-488E-A5AB-DF69250DE86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4987AC-800C-4DF0-AF15-8EB354C9D573}"/>
              </a:ext>
            </a:extLst>
          </p:cNvPr>
          <p:cNvGraphicFramePr>
            <a:graphicFrameLocks noGrp="1"/>
          </p:cNvGraphicFramePr>
          <p:nvPr/>
        </p:nvGraphicFramePr>
        <p:xfrm>
          <a:off x="5647474" y="295972"/>
          <a:ext cx="1336287" cy="4343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3908667579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294504096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714386250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447087442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01390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504522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33073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852385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C0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13149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26981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278131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8224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657101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6681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47949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33868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1419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808878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4261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433216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0196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332598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93377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7F02F09-C8A2-4E93-B672-488373F1549B}"/>
              </a:ext>
            </a:extLst>
          </p:cNvPr>
          <p:cNvCxnSpPr/>
          <p:nvPr/>
        </p:nvCxnSpPr>
        <p:spPr>
          <a:xfrm>
            <a:off x="7930901" y="321469"/>
            <a:ext cx="0" cy="13009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D3AAAF-66E5-48AD-8CF1-21FAF8D3BB4B}"/>
              </a:ext>
            </a:extLst>
          </p:cNvPr>
          <p:cNvCxnSpPr/>
          <p:nvPr/>
        </p:nvCxnSpPr>
        <p:spPr>
          <a:xfrm>
            <a:off x="7930901" y="1622444"/>
            <a:ext cx="0" cy="13009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C638F6-4213-46A4-854F-C62FFD405239}"/>
              </a:ext>
            </a:extLst>
          </p:cNvPr>
          <p:cNvCxnSpPr/>
          <p:nvPr/>
        </p:nvCxnSpPr>
        <p:spPr>
          <a:xfrm>
            <a:off x="7930901" y="3304133"/>
            <a:ext cx="0" cy="13009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B4622A8-AC28-4158-B24F-BB2D598EAC96}"/>
              </a:ext>
            </a:extLst>
          </p:cNvPr>
          <p:cNvSpPr txBox="1"/>
          <p:nvPr/>
        </p:nvSpPr>
        <p:spPr>
          <a:xfrm rot="5400000">
            <a:off x="7506449" y="1019468"/>
            <a:ext cx="118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Dop</a:t>
            </a:r>
            <a:r>
              <a:rPr lang="en-US" sz="1000" dirty="0"/>
              <a:t> </a:t>
            </a:r>
            <a:r>
              <a:rPr lang="en-US" sz="1000" dirty="0" err="1"/>
              <a:t>SubBin</a:t>
            </a:r>
            <a:r>
              <a:rPr lang="en-US" sz="1000" dirty="0"/>
              <a:t>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806707-D8E9-4E38-B2C6-E917AA44C85D}"/>
              </a:ext>
            </a:extLst>
          </p:cNvPr>
          <p:cNvSpPr txBox="1"/>
          <p:nvPr/>
        </p:nvSpPr>
        <p:spPr>
          <a:xfrm rot="5400000">
            <a:off x="7506448" y="2310297"/>
            <a:ext cx="118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Dop</a:t>
            </a:r>
            <a:r>
              <a:rPr lang="en-US" sz="1000" dirty="0"/>
              <a:t> </a:t>
            </a:r>
            <a:r>
              <a:rPr lang="en-US" sz="1000" dirty="0" err="1"/>
              <a:t>SubBin</a:t>
            </a:r>
            <a:r>
              <a:rPr lang="en-US" sz="1000" dirty="0"/>
              <a:t>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EA1ACD-2BD3-4E61-854B-64311D712D79}"/>
              </a:ext>
            </a:extLst>
          </p:cNvPr>
          <p:cNvSpPr txBox="1"/>
          <p:nvPr/>
        </p:nvSpPr>
        <p:spPr>
          <a:xfrm rot="5400000">
            <a:off x="7506448" y="3890983"/>
            <a:ext cx="118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Dop</a:t>
            </a:r>
            <a:r>
              <a:rPr lang="en-US" sz="1000" dirty="0"/>
              <a:t> </a:t>
            </a:r>
            <a:r>
              <a:rPr lang="en-US" sz="1000" dirty="0" err="1"/>
              <a:t>SubBin</a:t>
            </a:r>
            <a:r>
              <a:rPr lang="en-US" sz="1000" dirty="0"/>
              <a:t>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580AFBD-766D-4412-B592-A7422EAF621E}"/>
              </a:ext>
            </a:extLst>
          </p:cNvPr>
          <p:cNvGraphicFramePr>
            <a:graphicFrameLocks noGrp="1"/>
          </p:cNvGraphicFramePr>
          <p:nvPr/>
        </p:nvGraphicFramePr>
        <p:xfrm>
          <a:off x="5032916" y="295972"/>
          <a:ext cx="614557" cy="434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4557">
                  <a:extLst>
                    <a:ext uri="{9D8B030D-6E8A-4147-A177-3AD203B41FA5}">
                      <a16:colId xmlns:a16="http://schemas.microsoft.com/office/drawing/2014/main" val="2966111433"/>
                    </a:ext>
                  </a:extLst>
                </a:gridCol>
              </a:tblGrid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932001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54106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09737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965308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182249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03878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51070015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7403335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8195463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84028609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0436133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320476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6196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42622171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1120901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3540363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4929181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78468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70678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A6DE299-F754-47A9-BEA0-6DE1A3DAA107}"/>
              </a:ext>
            </a:extLst>
          </p:cNvPr>
          <p:cNvGraphicFramePr>
            <a:graphicFrameLocks noGrp="1"/>
          </p:cNvGraphicFramePr>
          <p:nvPr/>
        </p:nvGraphicFramePr>
        <p:xfrm>
          <a:off x="5647474" y="97852"/>
          <a:ext cx="1336287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1986422376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2925320669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98957594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2858392757"/>
                    </a:ext>
                  </a:extLst>
                </a:gridCol>
              </a:tblGrid>
              <a:tr h="17702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Tx1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Tx2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Tx3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Tx4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94488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299142A-8D63-48B6-9C12-F83852AB3FA0}"/>
              </a:ext>
            </a:extLst>
          </p:cNvPr>
          <p:cNvGraphicFramePr>
            <a:graphicFrameLocks noGrp="1"/>
          </p:cNvGraphicFramePr>
          <p:nvPr/>
        </p:nvGraphicFramePr>
        <p:xfrm>
          <a:off x="1353980" y="295972"/>
          <a:ext cx="133628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3908667579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294504096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714386250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447087442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01390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943979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552783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50452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B33FD14-7885-45F9-92A4-AC7540804F9A}"/>
              </a:ext>
            </a:extLst>
          </p:cNvPr>
          <p:cNvGraphicFramePr>
            <a:graphicFrameLocks noGrp="1"/>
          </p:cNvGraphicFramePr>
          <p:nvPr/>
        </p:nvGraphicFramePr>
        <p:xfrm>
          <a:off x="547728" y="295972"/>
          <a:ext cx="806251" cy="434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251">
                  <a:extLst>
                    <a:ext uri="{9D8B030D-6E8A-4147-A177-3AD203B41FA5}">
                      <a16:colId xmlns:a16="http://schemas.microsoft.com/office/drawing/2014/main" val="2966111433"/>
                    </a:ext>
                  </a:extLst>
                </a:gridCol>
              </a:tblGrid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932001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54106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09737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marL="0" marR="0" lvl="0" indent="0" algn="ctr" defTabSz="7617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Bin K/6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965308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marL="0" marR="0" lvl="0" indent="0" algn="ctr" defTabSz="7617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Bin K/6+1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182249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K/6+2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03878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1070015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2K/6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403335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2K/6+1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195463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4028609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36133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marL="0" marR="0" lvl="0" indent="0" algn="ctr" defTabSz="7617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Bin 3K/6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320476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marL="0" marR="0" lvl="0" indent="0" algn="ctr" defTabSz="7617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6386196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2622171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marL="0" marR="0" lvl="0" indent="0" algn="ctr" defTabSz="7617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Bin 4K/6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120901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540363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marL="0" marR="0" lvl="0" indent="0" algn="ctr" defTabSz="7617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Bin 5K/6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929181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8468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470678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41FE132-E25F-4549-B1D5-4FAB4558C4CF}"/>
              </a:ext>
            </a:extLst>
          </p:cNvPr>
          <p:cNvGraphicFramePr>
            <a:graphicFrameLocks noGrp="1"/>
          </p:cNvGraphicFramePr>
          <p:nvPr/>
        </p:nvGraphicFramePr>
        <p:xfrm>
          <a:off x="1353980" y="97852"/>
          <a:ext cx="1336287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1986422376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2925320669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98957594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2858392757"/>
                    </a:ext>
                  </a:extLst>
                </a:gridCol>
              </a:tblGrid>
              <a:tr h="17702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Tx1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Tx2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Tx3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Tx4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94488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124D875-C62B-409E-B64D-E5CBDDA07523}"/>
              </a:ext>
            </a:extLst>
          </p:cNvPr>
          <p:cNvGraphicFramePr>
            <a:graphicFrameLocks noGrp="1"/>
          </p:cNvGraphicFramePr>
          <p:nvPr/>
        </p:nvGraphicFramePr>
        <p:xfrm>
          <a:off x="6983761" y="295972"/>
          <a:ext cx="806252" cy="434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252">
                  <a:extLst>
                    <a:ext uri="{9D8B030D-6E8A-4147-A177-3AD203B41FA5}">
                      <a16:colId xmlns:a16="http://schemas.microsoft.com/office/drawing/2014/main" val="2966111433"/>
                    </a:ext>
                  </a:extLst>
                </a:gridCol>
              </a:tblGrid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932001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K/6+1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54106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2K/6+1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09737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3K/6+1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965308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4K/6+1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182249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5K/6+1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03878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51070015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K/6+2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7403335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8195463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84028609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0436133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5K/6+2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320476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6196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K/6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42622171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2K/6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1120901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3540363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4929181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78468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Bin 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70678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13D57FE-1945-4BED-9F97-806F915F9CF8}"/>
              </a:ext>
            </a:extLst>
          </p:cNvPr>
          <p:cNvGraphicFramePr>
            <a:graphicFrameLocks noGrp="1"/>
          </p:cNvGraphicFramePr>
          <p:nvPr/>
        </p:nvGraphicFramePr>
        <p:xfrm>
          <a:off x="2690266" y="295972"/>
          <a:ext cx="614557" cy="434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4557">
                  <a:extLst>
                    <a:ext uri="{9D8B030D-6E8A-4147-A177-3AD203B41FA5}">
                      <a16:colId xmlns:a16="http://schemas.microsoft.com/office/drawing/2014/main" val="2966111433"/>
                    </a:ext>
                  </a:extLst>
                </a:gridCol>
              </a:tblGrid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932001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54106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09737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965308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182249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03878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1070015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403335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195463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4028609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36133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320476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6386196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2622171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120901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540363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929181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8468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470678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E68CB32-95C5-4623-84E2-48F0E96DBF0C}"/>
              </a:ext>
            </a:extLst>
          </p:cNvPr>
          <p:cNvGraphicFramePr>
            <a:graphicFrameLocks noGrp="1"/>
          </p:cNvGraphicFramePr>
          <p:nvPr/>
        </p:nvGraphicFramePr>
        <p:xfrm>
          <a:off x="1353978" y="1210372"/>
          <a:ext cx="133628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917412715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911527572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537080162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62978709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587976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500658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99130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27016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50BD5C6-3E9B-402E-9A7E-14E961E6639D}"/>
              </a:ext>
            </a:extLst>
          </p:cNvPr>
          <p:cNvGraphicFramePr>
            <a:graphicFrameLocks noGrp="1"/>
          </p:cNvGraphicFramePr>
          <p:nvPr/>
        </p:nvGraphicFramePr>
        <p:xfrm>
          <a:off x="1353978" y="2120900"/>
          <a:ext cx="133628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917412715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911527572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537080162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62978709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587976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500658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99130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27016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0BD0242-22C6-422B-AC2A-337D5A255874}"/>
              </a:ext>
            </a:extLst>
          </p:cNvPr>
          <p:cNvGraphicFramePr>
            <a:graphicFrameLocks noGrp="1"/>
          </p:cNvGraphicFramePr>
          <p:nvPr/>
        </p:nvGraphicFramePr>
        <p:xfrm>
          <a:off x="1349945" y="3035300"/>
          <a:ext cx="1336287" cy="685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1327644113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3291468644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1624482576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1381398091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194901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46494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98509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A6BDCC4-7EDE-4322-A3A0-4DC6735B2A62}"/>
              </a:ext>
            </a:extLst>
          </p:cNvPr>
          <p:cNvGraphicFramePr>
            <a:graphicFrameLocks noGrp="1"/>
          </p:cNvGraphicFramePr>
          <p:nvPr/>
        </p:nvGraphicFramePr>
        <p:xfrm>
          <a:off x="1353978" y="3723578"/>
          <a:ext cx="1336287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3714286418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4242903001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1979047857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1171336949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438222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748731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3D6A39F-401F-4A1A-9C87-7F227B6B34A2}"/>
              </a:ext>
            </a:extLst>
          </p:cNvPr>
          <p:cNvGraphicFramePr>
            <a:graphicFrameLocks noGrp="1"/>
          </p:cNvGraphicFramePr>
          <p:nvPr/>
        </p:nvGraphicFramePr>
        <p:xfrm>
          <a:off x="1356319" y="4181776"/>
          <a:ext cx="1336287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3714286418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4242903001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1979047857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1171336949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6179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438222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748731"/>
                  </a:ext>
                </a:extLst>
              </a:tr>
            </a:tbl>
          </a:graphicData>
        </a:graphic>
      </p:graphicFrame>
      <p:sp>
        <p:nvSpPr>
          <p:cNvPr id="24" name="Arrow: Right 23">
            <a:extLst>
              <a:ext uri="{FF2B5EF4-FFF2-40B4-BE49-F238E27FC236}">
                <a16:creationId xmlns:a16="http://schemas.microsoft.com/office/drawing/2014/main" id="{2BB1FBB7-773F-4F61-85BE-D758AF7F65AC}"/>
              </a:ext>
            </a:extLst>
          </p:cNvPr>
          <p:cNvSpPr/>
          <p:nvPr/>
        </p:nvSpPr>
        <p:spPr>
          <a:xfrm>
            <a:off x="3775169" y="1232432"/>
            <a:ext cx="787400" cy="4351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4A15E2A-C808-454A-ACCB-1D0E64340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2045" y="3569987"/>
            <a:ext cx="4413647" cy="610791"/>
          </a:xfrm>
        </p:spPr>
        <p:txBody>
          <a:bodyPr/>
          <a:lstStyle/>
          <a:p>
            <a:pPr algn="ctr"/>
            <a:r>
              <a:rPr lang="en-US" dirty="0"/>
              <a:t>Doppler</a:t>
            </a:r>
            <a:br>
              <a:rPr lang="en-US" dirty="0"/>
            </a:br>
            <a:r>
              <a:rPr lang="en-US" dirty="0"/>
              <a:t>FFT</a:t>
            </a:r>
            <a:br>
              <a:rPr lang="en-US" dirty="0"/>
            </a:br>
            <a:r>
              <a:rPr lang="en-US" dirty="0"/>
              <a:t>DMA</a:t>
            </a:r>
            <a:br>
              <a:rPr lang="en-US" dirty="0"/>
            </a:br>
            <a:r>
              <a:rPr lang="en-US" dirty="0"/>
              <a:t>Transfer</a:t>
            </a:r>
          </a:p>
        </p:txBody>
      </p:sp>
    </p:spTree>
    <p:extLst>
      <p:ext uri="{BB962C8B-B14F-4D97-AF65-F5344CB8AC3E}">
        <p14:creationId xmlns:p14="http://schemas.microsoft.com/office/powerpoint/2010/main" val="125339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DDAA88-B339-493D-AA27-D5B7E0A776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C52F08-588C-488E-A5AB-DF69250DE86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2A4BF7-E197-45A6-BB81-9268CDEDF6B1}"/>
              </a:ext>
            </a:extLst>
          </p:cNvPr>
          <p:cNvGraphicFramePr>
            <a:graphicFrameLocks noGrp="1"/>
          </p:cNvGraphicFramePr>
          <p:nvPr/>
        </p:nvGraphicFramePr>
        <p:xfrm>
          <a:off x="965409" y="279039"/>
          <a:ext cx="1336287" cy="4343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3908667579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294504096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714386250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447087442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01390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504522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33073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852385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C0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13149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26981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278131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8224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657101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6681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47949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33868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1419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808878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4261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433216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0196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332598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93377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779F6E-4B24-416E-82F3-684195AFB579}"/>
              </a:ext>
            </a:extLst>
          </p:cNvPr>
          <p:cNvCxnSpPr/>
          <p:nvPr/>
        </p:nvCxnSpPr>
        <p:spPr>
          <a:xfrm>
            <a:off x="78628" y="279039"/>
            <a:ext cx="0" cy="13009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635D46-492A-4B03-9FCE-DD5B00830D9D}"/>
              </a:ext>
            </a:extLst>
          </p:cNvPr>
          <p:cNvCxnSpPr/>
          <p:nvPr/>
        </p:nvCxnSpPr>
        <p:spPr>
          <a:xfrm>
            <a:off x="78628" y="1669111"/>
            <a:ext cx="0" cy="13009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CA24F4-4EA5-400B-8663-CA1CE42093A9}"/>
              </a:ext>
            </a:extLst>
          </p:cNvPr>
          <p:cNvCxnSpPr/>
          <p:nvPr/>
        </p:nvCxnSpPr>
        <p:spPr>
          <a:xfrm>
            <a:off x="78628" y="3236497"/>
            <a:ext cx="0" cy="13009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18DFB21-AA5B-489F-A790-3C4012919F08}"/>
              </a:ext>
            </a:extLst>
          </p:cNvPr>
          <p:cNvSpPr txBox="1"/>
          <p:nvPr/>
        </p:nvSpPr>
        <p:spPr>
          <a:xfrm rot="5400000">
            <a:off x="-345824" y="951832"/>
            <a:ext cx="118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Dop</a:t>
            </a:r>
            <a:r>
              <a:rPr lang="en-US" sz="1000" dirty="0"/>
              <a:t> </a:t>
            </a:r>
            <a:r>
              <a:rPr lang="en-US" sz="1000" dirty="0" err="1"/>
              <a:t>SubBin</a:t>
            </a:r>
            <a:r>
              <a:rPr lang="en-US" sz="1000" dirty="0"/>
              <a:t>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96785F-8077-43D0-903C-8F23F5A1627A}"/>
              </a:ext>
            </a:extLst>
          </p:cNvPr>
          <p:cNvSpPr txBox="1"/>
          <p:nvPr/>
        </p:nvSpPr>
        <p:spPr>
          <a:xfrm rot="5400000">
            <a:off x="-354549" y="2255961"/>
            <a:ext cx="118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Dop</a:t>
            </a:r>
            <a:r>
              <a:rPr lang="en-US" sz="1000" dirty="0"/>
              <a:t> </a:t>
            </a:r>
            <a:r>
              <a:rPr lang="en-US" sz="1000" dirty="0" err="1"/>
              <a:t>SubBin</a:t>
            </a:r>
            <a:r>
              <a:rPr lang="en-US" sz="1000" dirty="0"/>
              <a:t>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12752F-9635-4F33-9AB1-0C9D21E80764}"/>
              </a:ext>
            </a:extLst>
          </p:cNvPr>
          <p:cNvSpPr txBox="1"/>
          <p:nvPr/>
        </p:nvSpPr>
        <p:spPr>
          <a:xfrm rot="5400000">
            <a:off x="-345825" y="3900738"/>
            <a:ext cx="118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Dop</a:t>
            </a:r>
            <a:r>
              <a:rPr lang="en-US" sz="1000" dirty="0"/>
              <a:t> </a:t>
            </a:r>
            <a:r>
              <a:rPr lang="en-US" sz="1000" dirty="0" err="1"/>
              <a:t>SubBin</a:t>
            </a:r>
            <a:r>
              <a:rPr lang="en-US" sz="1000" dirty="0"/>
              <a:t>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D2B4D9C-3EF6-4D7A-A616-3912612D78E6}"/>
              </a:ext>
            </a:extLst>
          </p:cNvPr>
          <p:cNvGraphicFramePr>
            <a:graphicFrameLocks noGrp="1"/>
          </p:cNvGraphicFramePr>
          <p:nvPr/>
        </p:nvGraphicFramePr>
        <p:xfrm>
          <a:off x="350851" y="279039"/>
          <a:ext cx="614557" cy="434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4557">
                  <a:extLst>
                    <a:ext uri="{9D8B030D-6E8A-4147-A177-3AD203B41FA5}">
                      <a16:colId xmlns:a16="http://schemas.microsoft.com/office/drawing/2014/main" val="2966111433"/>
                    </a:ext>
                  </a:extLst>
                </a:gridCol>
              </a:tblGrid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932001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54106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09737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965308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182249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03878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51070015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7403335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8195463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84028609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0436133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320476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86196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42622171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1120901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3540363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4929181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78468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70678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2532A65-DDEC-4A3B-BA3B-A86EF10FA49D}"/>
              </a:ext>
            </a:extLst>
          </p:cNvPr>
          <p:cNvGraphicFramePr>
            <a:graphicFrameLocks noGrp="1"/>
          </p:cNvGraphicFramePr>
          <p:nvPr/>
        </p:nvGraphicFramePr>
        <p:xfrm>
          <a:off x="965409" y="80919"/>
          <a:ext cx="1336284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011">
                  <a:extLst>
                    <a:ext uri="{9D8B030D-6E8A-4147-A177-3AD203B41FA5}">
                      <a16:colId xmlns:a16="http://schemas.microsoft.com/office/drawing/2014/main" val="1986422376"/>
                    </a:ext>
                  </a:extLst>
                </a:gridCol>
                <a:gridCol w="336260">
                  <a:extLst>
                    <a:ext uri="{9D8B030D-6E8A-4147-A177-3AD203B41FA5}">
                      <a16:colId xmlns:a16="http://schemas.microsoft.com/office/drawing/2014/main" val="2925320669"/>
                    </a:ext>
                  </a:extLst>
                </a:gridCol>
                <a:gridCol w="336260">
                  <a:extLst>
                    <a:ext uri="{9D8B030D-6E8A-4147-A177-3AD203B41FA5}">
                      <a16:colId xmlns:a16="http://schemas.microsoft.com/office/drawing/2014/main" val="98957594"/>
                    </a:ext>
                  </a:extLst>
                </a:gridCol>
                <a:gridCol w="325753">
                  <a:extLst>
                    <a:ext uri="{9D8B030D-6E8A-4147-A177-3AD203B41FA5}">
                      <a16:colId xmlns:a16="http://schemas.microsoft.com/office/drawing/2014/main" val="2858392757"/>
                    </a:ext>
                  </a:extLst>
                </a:gridCol>
              </a:tblGrid>
              <a:tr h="17702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Tx1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Tx2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Tx3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Tx4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94488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AFBA5DF-C283-46DE-BD21-2F2DDA928D94}"/>
              </a:ext>
            </a:extLst>
          </p:cNvPr>
          <p:cNvGraphicFramePr>
            <a:graphicFrameLocks noGrp="1"/>
          </p:cNvGraphicFramePr>
          <p:nvPr/>
        </p:nvGraphicFramePr>
        <p:xfrm>
          <a:off x="4107466" y="614045"/>
          <a:ext cx="477647" cy="376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7647">
                  <a:extLst>
                    <a:ext uri="{9D8B030D-6E8A-4147-A177-3AD203B41FA5}">
                      <a16:colId xmlns:a16="http://schemas.microsoft.com/office/drawing/2014/main" val="4124336125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36956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23958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820106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K/6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8304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K/6+1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820790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548283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2K/6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57025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2K/6+1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802433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109785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3K/6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801666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3K/6+1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730682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20205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latin typeface="Arial Narrow" panose="020B0606020202030204" pitchFamily="34" charset="0"/>
                        </a:rPr>
                        <a:t>4K/6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746912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4K/6+1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278020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709976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5K/6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638260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5K/6+1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788330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910348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K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084352"/>
                  </a:ext>
                </a:extLst>
              </a:tr>
            </a:tbl>
          </a:graphicData>
        </a:graphic>
      </p:graphicFrame>
      <p:sp>
        <p:nvSpPr>
          <p:cNvPr id="15" name="Oval 14">
            <a:extLst>
              <a:ext uri="{FF2B5EF4-FFF2-40B4-BE49-F238E27FC236}">
                <a16:creationId xmlns:a16="http://schemas.microsoft.com/office/drawing/2014/main" id="{B4B4A796-96F7-4738-8557-8C4F757C09D6}"/>
              </a:ext>
            </a:extLst>
          </p:cNvPr>
          <p:cNvSpPr/>
          <p:nvPr/>
        </p:nvSpPr>
        <p:spPr>
          <a:xfrm>
            <a:off x="5342732" y="2140946"/>
            <a:ext cx="477647" cy="47625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</a:rPr>
              <a:t>Max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0977BF5-D5F2-4B3D-BA7E-9016BD204F6D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4585113" y="1497833"/>
            <a:ext cx="827569" cy="71285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0F12E7D-E8F4-4353-ACF0-996D1AE719B2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4585113" y="2113669"/>
            <a:ext cx="757619" cy="265402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0E89C82-A19F-45D1-BF44-C1A4C6BFA7E7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4585113" y="2547451"/>
            <a:ext cx="827569" cy="13949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E0C26D7-E5C7-4610-9413-A6CEAA79A258}"/>
              </a:ext>
            </a:extLst>
          </p:cNvPr>
          <p:cNvCxnSpPr>
            <a:cxnSpLocks/>
            <a:endCxn id="15" idx="4"/>
          </p:cNvCxnSpPr>
          <p:nvPr/>
        </p:nvCxnSpPr>
        <p:spPr>
          <a:xfrm flipV="1">
            <a:off x="4585113" y="2617196"/>
            <a:ext cx="996443" cy="664747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00E2EBC0-242A-4331-B412-E16BFBB9B939}"/>
              </a:ext>
            </a:extLst>
          </p:cNvPr>
          <p:cNvCxnSpPr>
            <a:cxnSpLocks/>
            <a:endCxn id="15" idx="5"/>
          </p:cNvCxnSpPr>
          <p:nvPr/>
        </p:nvCxnSpPr>
        <p:spPr>
          <a:xfrm rot="5400000" flipH="1" flipV="1">
            <a:off x="4488943" y="2637915"/>
            <a:ext cx="1351949" cy="1171023"/>
          </a:xfrm>
          <a:prstGeom prst="bentConnector3">
            <a:avLst>
              <a:gd name="adj1" fmla="val 213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EF220AE-F014-4C1C-9938-0E5DAE66F982}"/>
              </a:ext>
            </a:extLst>
          </p:cNvPr>
          <p:cNvSpPr/>
          <p:nvPr/>
        </p:nvSpPr>
        <p:spPr>
          <a:xfrm>
            <a:off x="6288610" y="2165245"/>
            <a:ext cx="978213" cy="406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Rotation Index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126667C-FBDD-4860-A8D8-70D07864B986}"/>
              </a:ext>
            </a:extLst>
          </p:cNvPr>
          <p:cNvCxnSpPr>
            <a:endCxn id="15" idx="7"/>
          </p:cNvCxnSpPr>
          <p:nvPr/>
        </p:nvCxnSpPr>
        <p:spPr>
          <a:xfrm rot="16200000" flipH="1">
            <a:off x="4417465" y="877727"/>
            <a:ext cx="1500612" cy="1165316"/>
          </a:xfrm>
          <a:prstGeom prst="bentConnector3">
            <a:avLst>
              <a:gd name="adj1" fmla="val 67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5D9266-9BB7-4AB2-9F77-5AFF8AD95B79}"/>
              </a:ext>
            </a:extLst>
          </p:cNvPr>
          <p:cNvCxnSpPr/>
          <p:nvPr/>
        </p:nvCxnSpPr>
        <p:spPr>
          <a:xfrm>
            <a:off x="2301693" y="390889"/>
            <a:ext cx="1805773" cy="31919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D8CAB7-7F1A-4649-8BEB-A27F3C97A433}"/>
              </a:ext>
            </a:extLst>
          </p:cNvPr>
          <p:cNvCxnSpPr/>
          <p:nvPr/>
        </p:nvCxnSpPr>
        <p:spPr>
          <a:xfrm>
            <a:off x="2301693" y="614045"/>
            <a:ext cx="1805773" cy="883788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B796D6-9904-42AA-854B-27857D6E25F5}"/>
              </a:ext>
            </a:extLst>
          </p:cNvPr>
          <p:cNvCxnSpPr/>
          <p:nvPr/>
        </p:nvCxnSpPr>
        <p:spPr>
          <a:xfrm>
            <a:off x="2301693" y="837618"/>
            <a:ext cx="1805773" cy="1276051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892E02-2D46-42CC-9E86-0FEE19ED9574}"/>
              </a:ext>
            </a:extLst>
          </p:cNvPr>
          <p:cNvCxnSpPr/>
          <p:nvPr/>
        </p:nvCxnSpPr>
        <p:spPr>
          <a:xfrm>
            <a:off x="2301693" y="1095884"/>
            <a:ext cx="1805773" cy="1591057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0A5E0B9-F7F9-49C1-882A-D530195FCC0D}"/>
              </a:ext>
            </a:extLst>
          </p:cNvPr>
          <p:cNvCxnSpPr/>
          <p:nvPr/>
        </p:nvCxnSpPr>
        <p:spPr>
          <a:xfrm>
            <a:off x="2301693" y="1326229"/>
            <a:ext cx="1805773" cy="1989344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C4C4750-AD78-4215-8CDC-E0D1D6BCFD56}"/>
              </a:ext>
            </a:extLst>
          </p:cNvPr>
          <p:cNvCxnSpPr/>
          <p:nvPr/>
        </p:nvCxnSpPr>
        <p:spPr>
          <a:xfrm>
            <a:off x="2301693" y="1580014"/>
            <a:ext cx="1805773" cy="2319387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CE90E76-BEE1-44DF-908D-1AA05297B9C2}"/>
              </a:ext>
            </a:extLst>
          </p:cNvPr>
          <p:cNvSpPr txBox="1"/>
          <p:nvPr/>
        </p:nvSpPr>
        <p:spPr>
          <a:xfrm>
            <a:off x="4629766" y="442727"/>
            <a:ext cx="288677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DDMA Metric (arranged </a:t>
            </a:r>
            <a:r>
              <a:rPr lang="en-US" sz="1050" dirty="0" err="1"/>
              <a:t>DopFFT</a:t>
            </a:r>
            <a:r>
              <a:rPr lang="en-US" sz="1050" dirty="0"/>
              <a:t> bin wise)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675AA3-6A53-444E-A1F5-00F3829A5375}"/>
              </a:ext>
            </a:extLst>
          </p:cNvPr>
          <p:cNvSpPr txBox="1"/>
          <p:nvPr/>
        </p:nvSpPr>
        <p:spPr>
          <a:xfrm rot="16200000">
            <a:off x="1177097" y="304228"/>
            <a:ext cx="2886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Correspondence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D9A446-E029-4DBF-8DB2-3ADD8E8BD407}"/>
              </a:ext>
            </a:extLst>
          </p:cNvPr>
          <p:cNvSpPr/>
          <p:nvPr/>
        </p:nvSpPr>
        <p:spPr>
          <a:xfrm>
            <a:off x="6288609" y="2816921"/>
            <a:ext cx="978213" cy="406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Perform Copies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EEBA026-8740-45CF-BE64-0C074CCFCBCD}"/>
              </a:ext>
            </a:extLst>
          </p:cNvPr>
          <p:cNvCxnSpPr>
            <a:stCxn id="15" idx="6"/>
            <a:endCxn id="21" idx="1"/>
          </p:cNvCxnSpPr>
          <p:nvPr/>
        </p:nvCxnSpPr>
        <p:spPr>
          <a:xfrm flipV="1">
            <a:off x="5820379" y="2368498"/>
            <a:ext cx="468231" cy="1057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A5205EA-2525-404D-A871-5666170E91CD}"/>
              </a:ext>
            </a:extLst>
          </p:cNvPr>
          <p:cNvCxnSpPr>
            <a:stCxn id="21" idx="2"/>
            <a:endCxn id="31" idx="0"/>
          </p:cNvCxnSpPr>
          <p:nvPr/>
        </p:nvCxnSpPr>
        <p:spPr>
          <a:xfrm flipH="1">
            <a:off x="6777716" y="2571750"/>
            <a:ext cx="1" cy="245171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1">
            <a:extLst>
              <a:ext uri="{FF2B5EF4-FFF2-40B4-BE49-F238E27FC236}">
                <a16:creationId xmlns:a16="http://schemas.microsoft.com/office/drawing/2014/main" id="{70626CF1-02F9-4726-89EC-CCFC9970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369" y="3825571"/>
            <a:ext cx="4413647" cy="610791"/>
          </a:xfrm>
        </p:spPr>
        <p:txBody>
          <a:bodyPr/>
          <a:lstStyle/>
          <a:p>
            <a:r>
              <a:rPr lang="en-US" dirty="0"/>
              <a:t>DDMA Metric</a:t>
            </a:r>
          </a:p>
        </p:txBody>
      </p:sp>
    </p:spTree>
    <p:extLst>
      <p:ext uri="{BB962C8B-B14F-4D97-AF65-F5344CB8AC3E}">
        <p14:creationId xmlns:p14="http://schemas.microsoft.com/office/powerpoint/2010/main" val="2383749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5E4790C6-31D1-4F8F-92BF-203D8B37B7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642100" y="4537472"/>
            <a:ext cx="2133600" cy="154782"/>
          </a:xfrm>
        </p:spPr>
        <p:txBody>
          <a:bodyPr/>
          <a:lstStyle/>
          <a:p>
            <a:pPr>
              <a:defRPr/>
            </a:pPr>
            <a:fld id="{D4C52F08-588C-488E-A5AB-DF69250DE86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FFF708-A982-4947-83B9-5078CFF7B3A3}"/>
              </a:ext>
            </a:extLst>
          </p:cNvPr>
          <p:cNvGraphicFramePr>
            <a:graphicFrameLocks noGrp="1"/>
          </p:cNvGraphicFramePr>
          <p:nvPr/>
        </p:nvGraphicFramePr>
        <p:xfrm>
          <a:off x="1558643" y="164484"/>
          <a:ext cx="133628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681459497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389220595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3195927465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634971191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186305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733922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58823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905818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C0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10761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2127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5929CB-DB2E-4C09-B950-45CC20FC02AA}"/>
              </a:ext>
            </a:extLst>
          </p:cNvPr>
          <p:cNvGraphicFramePr>
            <a:graphicFrameLocks noGrp="1"/>
          </p:cNvGraphicFramePr>
          <p:nvPr/>
        </p:nvGraphicFramePr>
        <p:xfrm>
          <a:off x="2894930" y="164484"/>
          <a:ext cx="10668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966111433"/>
                    </a:ext>
                  </a:extLst>
                </a:gridCol>
              </a:tblGrid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932001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54106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3 (Empty)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09737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4 (Empty)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965308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182249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03878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56E0DFA-7B07-43F7-A034-E9A585CA839C}"/>
              </a:ext>
            </a:extLst>
          </p:cNvPr>
          <p:cNvSpPr/>
          <p:nvPr/>
        </p:nvSpPr>
        <p:spPr>
          <a:xfrm>
            <a:off x="1558642" y="1078968"/>
            <a:ext cx="2403087" cy="457116"/>
          </a:xfrm>
          <a:prstGeom prst="rect">
            <a:avLst/>
          </a:prstGeom>
          <a:solidFill>
            <a:srgbClr val="FF99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23169C0-C867-4CC8-A9AF-1C87E33EE28F}"/>
              </a:ext>
            </a:extLst>
          </p:cNvPr>
          <p:cNvGraphicFramePr>
            <a:graphicFrameLocks noGrp="1"/>
          </p:cNvGraphicFramePr>
          <p:nvPr/>
        </p:nvGraphicFramePr>
        <p:xfrm>
          <a:off x="5619080" y="412134"/>
          <a:ext cx="133628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681459497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389220595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3195927465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634971191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186305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733922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C0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10761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21279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D678026-5A11-4E7A-A3C3-47C761E2DC98}"/>
              </a:ext>
            </a:extLst>
          </p:cNvPr>
          <p:cNvGraphicFramePr>
            <a:graphicFrameLocks noGrp="1"/>
          </p:cNvGraphicFramePr>
          <p:nvPr/>
        </p:nvGraphicFramePr>
        <p:xfrm>
          <a:off x="6955367" y="412134"/>
          <a:ext cx="1066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966111433"/>
                    </a:ext>
                  </a:extLst>
                </a:gridCol>
              </a:tblGrid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932001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54106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09737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965308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9D509DA-6801-408F-BD0D-2C7E0EA18C92}"/>
              </a:ext>
            </a:extLst>
          </p:cNvPr>
          <p:cNvSpPr/>
          <p:nvPr/>
        </p:nvSpPr>
        <p:spPr>
          <a:xfrm>
            <a:off x="5619080" y="409148"/>
            <a:ext cx="2403087" cy="457116"/>
          </a:xfrm>
          <a:prstGeom prst="rect">
            <a:avLst/>
          </a:prstGeom>
          <a:solidFill>
            <a:srgbClr val="FF99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4B7D80-337C-4669-ABF8-DDF56465D9F3}"/>
              </a:ext>
            </a:extLst>
          </p:cNvPr>
          <p:cNvSpPr/>
          <p:nvPr/>
        </p:nvSpPr>
        <p:spPr>
          <a:xfrm>
            <a:off x="1558642" y="164568"/>
            <a:ext cx="2403087" cy="457116"/>
          </a:xfrm>
          <a:prstGeom prst="rect">
            <a:avLst/>
          </a:prstGeom>
          <a:solidFill>
            <a:srgbClr val="00206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207E7F-CF5E-4969-BE73-FEAC1E2BE954}"/>
              </a:ext>
            </a:extLst>
          </p:cNvPr>
          <p:cNvSpPr/>
          <p:nvPr/>
        </p:nvSpPr>
        <p:spPr>
          <a:xfrm>
            <a:off x="5619080" y="872572"/>
            <a:ext cx="2403087" cy="457116"/>
          </a:xfrm>
          <a:prstGeom prst="rect">
            <a:avLst/>
          </a:prstGeom>
          <a:solidFill>
            <a:srgbClr val="00206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2780E6E-F4DD-46C0-81C9-E9127D595B17}"/>
              </a:ext>
            </a:extLst>
          </p:cNvPr>
          <p:cNvCxnSpPr>
            <a:stCxn id="7" idx="3"/>
          </p:cNvCxnSpPr>
          <p:nvPr/>
        </p:nvCxnSpPr>
        <p:spPr>
          <a:xfrm flipV="1">
            <a:off x="3961729" y="621684"/>
            <a:ext cx="1657351" cy="685842"/>
          </a:xfrm>
          <a:prstGeom prst="bentConnector3">
            <a:avLst>
              <a:gd name="adj1" fmla="val 60345"/>
            </a:avLst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DFE68F6-D44B-410E-A562-F1A467D06026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3961729" y="393126"/>
            <a:ext cx="1657351" cy="708004"/>
          </a:xfrm>
          <a:prstGeom prst="bentConnector3">
            <a:avLst>
              <a:gd name="adj1" fmla="val 50000"/>
            </a:avLst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A3C6B43-BCD8-4713-95A5-532AB233F779}"/>
              </a:ext>
            </a:extLst>
          </p:cNvPr>
          <p:cNvSpPr txBox="1"/>
          <p:nvPr/>
        </p:nvSpPr>
        <p:spPr>
          <a:xfrm>
            <a:off x="4018879" y="1072618"/>
            <a:ext cx="15430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Copy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C1B997-1E83-4511-AC4F-FEC7FAD9CBB4}"/>
              </a:ext>
            </a:extLst>
          </p:cNvPr>
          <p:cNvSpPr txBox="1"/>
          <p:nvPr/>
        </p:nvSpPr>
        <p:spPr>
          <a:xfrm>
            <a:off x="4018879" y="158218"/>
            <a:ext cx="15430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Copy 2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5A6211A-941F-4232-BC81-1818F2A4D2C7}"/>
              </a:ext>
            </a:extLst>
          </p:cNvPr>
          <p:cNvGraphicFramePr>
            <a:graphicFrameLocks noGrp="1"/>
          </p:cNvGraphicFramePr>
          <p:nvPr/>
        </p:nvGraphicFramePr>
        <p:xfrm>
          <a:off x="2894929" y="1580534"/>
          <a:ext cx="10668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966111433"/>
                    </a:ext>
                  </a:extLst>
                </a:gridCol>
              </a:tblGrid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1 (Empty)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932001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 (Empty)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54106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09737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965308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182249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03878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8F31762-48E9-48AF-95D3-196448362BEE}"/>
              </a:ext>
            </a:extLst>
          </p:cNvPr>
          <p:cNvGraphicFramePr>
            <a:graphicFrameLocks noGrp="1"/>
          </p:cNvGraphicFramePr>
          <p:nvPr/>
        </p:nvGraphicFramePr>
        <p:xfrm>
          <a:off x="1558642" y="1580534"/>
          <a:ext cx="133628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3015661983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2765792902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4022581903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2088793508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47272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653380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33337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851932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847541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638405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8CBF013B-55FD-4954-A7D6-84AFC1DDBCA8}"/>
              </a:ext>
            </a:extLst>
          </p:cNvPr>
          <p:cNvSpPr/>
          <p:nvPr/>
        </p:nvSpPr>
        <p:spPr>
          <a:xfrm>
            <a:off x="1558642" y="2037776"/>
            <a:ext cx="2403087" cy="914358"/>
          </a:xfrm>
          <a:prstGeom prst="rect">
            <a:avLst/>
          </a:prstGeom>
          <a:solidFill>
            <a:srgbClr val="FF99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8902B00-EA5D-4A40-A3E1-7159E8C83C92}"/>
              </a:ext>
            </a:extLst>
          </p:cNvPr>
          <p:cNvGraphicFramePr>
            <a:graphicFrameLocks noGrp="1"/>
          </p:cNvGraphicFramePr>
          <p:nvPr/>
        </p:nvGraphicFramePr>
        <p:xfrm>
          <a:off x="5622255" y="1315793"/>
          <a:ext cx="133628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3218255999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279199649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2599392058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1097989527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108440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421789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414612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C0E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283351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902DC56-6681-4F79-9533-71C385295D5A}"/>
              </a:ext>
            </a:extLst>
          </p:cNvPr>
          <p:cNvGraphicFramePr>
            <a:graphicFrameLocks noGrp="1"/>
          </p:cNvGraphicFramePr>
          <p:nvPr/>
        </p:nvGraphicFramePr>
        <p:xfrm>
          <a:off x="6955367" y="1315793"/>
          <a:ext cx="1066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966111433"/>
                    </a:ext>
                  </a:extLst>
                </a:gridCol>
              </a:tblGrid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932001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54106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09737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9653083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6E2A0B3C-82AA-40FE-B099-A46F28A2757D}"/>
              </a:ext>
            </a:extLst>
          </p:cNvPr>
          <p:cNvSpPr/>
          <p:nvPr/>
        </p:nvSpPr>
        <p:spPr>
          <a:xfrm>
            <a:off x="5619080" y="1323423"/>
            <a:ext cx="2403087" cy="914358"/>
          </a:xfrm>
          <a:prstGeom prst="rect">
            <a:avLst/>
          </a:prstGeom>
          <a:solidFill>
            <a:srgbClr val="FF99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A92715F-1FFE-442A-8D51-23E8166E1274}"/>
              </a:ext>
            </a:extLst>
          </p:cNvPr>
          <p:cNvCxnSpPr/>
          <p:nvPr/>
        </p:nvCxnSpPr>
        <p:spPr>
          <a:xfrm flipV="1">
            <a:off x="3961729" y="1821855"/>
            <a:ext cx="1657351" cy="685842"/>
          </a:xfrm>
          <a:prstGeom prst="bentConnector3">
            <a:avLst>
              <a:gd name="adj1" fmla="val 60345"/>
            </a:avLst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81614A1-CB04-493A-9D79-B70295BA602E}"/>
              </a:ext>
            </a:extLst>
          </p:cNvPr>
          <p:cNvSpPr txBox="1"/>
          <p:nvPr/>
        </p:nvSpPr>
        <p:spPr>
          <a:xfrm>
            <a:off x="4018879" y="2272789"/>
            <a:ext cx="15430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Copy 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C368C60-06D2-46D2-B64E-FE1C3C41DF76}"/>
              </a:ext>
            </a:extLst>
          </p:cNvPr>
          <p:cNvGraphicFramePr>
            <a:graphicFrameLocks noGrp="1"/>
          </p:cNvGraphicFramePr>
          <p:nvPr/>
        </p:nvGraphicFramePr>
        <p:xfrm>
          <a:off x="1558641" y="3318908"/>
          <a:ext cx="133628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172256691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1681136564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805271678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603083524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89661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648063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677822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049460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917874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942039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46F539B2-024D-476D-A182-F9A8C124EAD4}"/>
              </a:ext>
            </a:extLst>
          </p:cNvPr>
          <p:cNvSpPr/>
          <p:nvPr/>
        </p:nvSpPr>
        <p:spPr>
          <a:xfrm>
            <a:off x="1558642" y="3547592"/>
            <a:ext cx="2403087" cy="914358"/>
          </a:xfrm>
          <a:prstGeom prst="rect">
            <a:avLst/>
          </a:prstGeom>
          <a:solidFill>
            <a:srgbClr val="00206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69CC117-B9F2-4767-A4B6-580629066A82}"/>
              </a:ext>
            </a:extLst>
          </p:cNvPr>
          <p:cNvGraphicFramePr>
            <a:graphicFrameLocks noGrp="1"/>
          </p:cNvGraphicFramePr>
          <p:nvPr/>
        </p:nvGraphicFramePr>
        <p:xfrm>
          <a:off x="2904841" y="3320654"/>
          <a:ext cx="10668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966111433"/>
                    </a:ext>
                  </a:extLst>
                </a:gridCol>
              </a:tblGrid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1 (Empty)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932001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54106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09737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9653083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182249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6 (Empty)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038782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F1EAA9D-87CA-45A4-B87E-88ED5CEBCC3B}"/>
              </a:ext>
            </a:extLst>
          </p:cNvPr>
          <p:cNvGraphicFramePr>
            <a:graphicFrameLocks noGrp="1"/>
          </p:cNvGraphicFramePr>
          <p:nvPr/>
        </p:nvGraphicFramePr>
        <p:xfrm>
          <a:off x="5627547" y="2483730"/>
          <a:ext cx="133628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1176956244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3561595096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1120565386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3855911563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624267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348096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25011"/>
                  </a:ext>
                </a:extLst>
              </a:tr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4B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380630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A0EB2F1-BE6E-4C8A-9106-AB4744735205}"/>
              </a:ext>
            </a:extLst>
          </p:cNvPr>
          <p:cNvGraphicFramePr>
            <a:graphicFrameLocks noGrp="1"/>
          </p:cNvGraphicFramePr>
          <p:nvPr/>
        </p:nvGraphicFramePr>
        <p:xfrm>
          <a:off x="6963834" y="2481824"/>
          <a:ext cx="1066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966111433"/>
                    </a:ext>
                  </a:extLst>
                </a:gridCol>
              </a:tblGrid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9320014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541060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097372"/>
                  </a:ext>
                </a:extLst>
              </a:tr>
              <a:tr h="22850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Band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9653083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2A702ED9-1C62-42E0-B98A-4FE8A97D4C13}"/>
              </a:ext>
            </a:extLst>
          </p:cNvPr>
          <p:cNvSpPr/>
          <p:nvPr/>
        </p:nvSpPr>
        <p:spPr>
          <a:xfrm>
            <a:off x="5627547" y="2481845"/>
            <a:ext cx="2403087" cy="914358"/>
          </a:xfrm>
          <a:prstGeom prst="rect">
            <a:avLst/>
          </a:prstGeom>
          <a:solidFill>
            <a:srgbClr val="00206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EAB6A6BF-8A49-468D-B590-5BB360F7B6A9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3990021" y="2940930"/>
            <a:ext cx="1637526" cy="1050731"/>
          </a:xfrm>
          <a:prstGeom prst="bentConnector3">
            <a:avLst>
              <a:gd name="adj1" fmla="val 50000"/>
            </a:avLst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4458170-C35A-4FE0-A34F-C32C6BA85DE7}"/>
              </a:ext>
            </a:extLst>
          </p:cNvPr>
          <p:cNvSpPr txBox="1"/>
          <p:nvPr/>
        </p:nvSpPr>
        <p:spPr>
          <a:xfrm>
            <a:off x="3971641" y="3759216"/>
            <a:ext cx="15430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Copy 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8BCCDA33-7F51-4712-AB15-B64E0820D657}"/>
              </a:ext>
            </a:extLst>
          </p:cNvPr>
          <p:cNvGraphicFramePr>
            <a:graphicFrameLocks noGrp="1"/>
          </p:cNvGraphicFramePr>
          <p:nvPr/>
        </p:nvGraphicFramePr>
        <p:xfrm>
          <a:off x="1558641" y="3036370"/>
          <a:ext cx="1336287" cy="22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1699568172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1104664534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2230857652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1298306169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163324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9FA5B13A-61A6-4EAF-96A3-0B6D491B81A6}"/>
              </a:ext>
            </a:extLst>
          </p:cNvPr>
          <p:cNvGraphicFramePr>
            <a:graphicFrameLocks noGrp="1"/>
          </p:cNvGraphicFramePr>
          <p:nvPr/>
        </p:nvGraphicFramePr>
        <p:xfrm>
          <a:off x="5626874" y="2245643"/>
          <a:ext cx="1336287" cy="22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702">
                  <a:extLst>
                    <a:ext uri="{9D8B030D-6E8A-4147-A177-3AD203B41FA5}">
                      <a16:colId xmlns:a16="http://schemas.microsoft.com/office/drawing/2014/main" val="1699568172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1104664534"/>
                    </a:ext>
                  </a:extLst>
                </a:gridCol>
                <a:gridCol w="336702">
                  <a:extLst>
                    <a:ext uri="{9D8B030D-6E8A-4147-A177-3AD203B41FA5}">
                      <a16:colId xmlns:a16="http://schemas.microsoft.com/office/drawing/2014/main" val="2230857652"/>
                    </a:ext>
                  </a:extLst>
                </a:gridCol>
                <a:gridCol w="326181">
                  <a:extLst>
                    <a:ext uri="{9D8B030D-6E8A-4147-A177-3AD203B41FA5}">
                      <a16:colId xmlns:a16="http://schemas.microsoft.com/office/drawing/2014/main" val="1298306169"/>
                    </a:ext>
                  </a:extLst>
                </a:gridCol>
              </a:tblGrid>
              <a:tr h="18996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 Narrow" panose="020B060602020203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163324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C3DE7A1A-D59A-40B5-832F-5B564B2DD2B5}"/>
              </a:ext>
            </a:extLst>
          </p:cNvPr>
          <p:cNvSpPr/>
          <p:nvPr/>
        </p:nvSpPr>
        <p:spPr>
          <a:xfrm>
            <a:off x="745067" y="158218"/>
            <a:ext cx="7366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DopSubBin 1</a:t>
            </a:r>
          </a:p>
          <a:p>
            <a:pPr algn="ctr"/>
            <a:endParaRPr lang="en-US" sz="800" b="1" dirty="0">
              <a:solidFill>
                <a:schemeClr val="tx1"/>
              </a:solidFill>
            </a:endParaRPr>
          </a:p>
          <a:p>
            <a:pPr algn="ctr"/>
            <a:r>
              <a:rPr lang="en-US" sz="800" b="1" dirty="0">
                <a:solidFill>
                  <a:schemeClr val="tx1"/>
                </a:solidFill>
              </a:rPr>
              <a:t>MaxIdx = 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2E6297-270C-417D-8384-093DFD9BB95F}"/>
              </a:ext>
            </a:extLst>
          </p:cNvPr>
          <p:cNvSpPr/>
          <p:nvPr/>
        </p:nvSpPr>
        <p:spPr>
          <a:xfrm>
            <a:off x="745066" y="1580534"/>
            <a:ext cx="7366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DopSubBin 2</a:t>
            </a:r>
          </a:p>
          <a:p>
            <a:pPr algn="ctr"/>
            <a:endParaRPr lang="en-US" sz="800" b="1" dirty="0">
              <a:solidFill>
                <a:schemeClr val="tx1"/>
              </a:solidFill>
            </a:endParaRPr>
          </a:p>
          <a:p>
            <a:pPr algn="ctr"/>
            <a:r>
              <a:rPr lang="en-US" sz="800" b="1" dirty="0">
                <a:solidFill>
                  <a:schemeClr val="tx1"/>
                </a:solidFill>
              </a:rPr>
              <a:t>MaxIdx = 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AAED48-7F6C-4F58-8AE7-8AE088F1DF32}"/>
              </a:ext>
            </a:extLst>
          </p:cNvPr>
          <p:cNvSpPr/>
          <p:nvPr/>
        </p:nvSpPr>
        <p:spPr>
          <a:xfrm>
            <a:off x="738818" y="3318908"/>
            <a:ext cx="7366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err="1">
                <a:solidFill>
                  <a:schemeClr val="tx1"/>
                </a:solidFill>
              </a:rPr>
              <a:t>DopSubBinN</a:t>
            </a:r>
            <a:endParaRPr lang="en-US" sz="800" b="1" dirty="0">
              <a:solidFill>
                <a:schemeClr val="tx1"/>
              </a:solidFill>
            </a:endParaRPr>
          </a:p>
          <a:p>
            <a:pPr algn="ctr"/>
            <a:endParaRPr lang="en-US" sz="800" b="1" dirty="0">
              <a:solidFill>
                <a:schemeClr val="tx1"/>
              </a:solidFill>
            </a:endParaRPr>
          </a:p>
          <a:p>
            <a:pPr algn="ctr"/>
            <a:r>
              <a:rPr lang="en-US" sz="800" b="1" dirty="0">
                <a:solidFill>
                  <a:schemeClr val="tx1"/>
                </a:solidFill>
              </a:rPr>
              <a:t>MaxIdx = 6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E4F82226-E952-4B0D-9064-C4819B95B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838" y="3759216"/>
            <a:ext cx="4413647" cy="610791"/>
          </a:xfrm>
        </p:spPr>
        <p:txBody>
          <a:bodyPr/>
          <a:lstStyle/>
          <a:p>
            <a:r>
              <a:rPr lang="en-US" dirty="0"/>
              <a:t>DDMA </a:t>
            </a:r>
            <a:r>
              <a:rPr lang="en-US" dirty="0" err="1"/>
              <a:t>Demod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46231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F6325-F766-410E-A82E-CC218427D6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C52F08-588C-488E-A5AB-DF69250DE862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F0D4F-763E-40D8-8AD8-0ACB7748E477}"/>
              </a:ext>
            </a:extLst>
          </p:cNvPr>
          <p:cNvSpPr txBox="1">
            <a:spLocks/>
          </p:cNvSpPr>
          <p:nvPr/>
        </p:nvSpPr>
        <p:spPr bwMode="auto">
          <a:xfrm>
            <a:off x="6642100" y="4537472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8089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76179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14268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5235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1904467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285362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2666253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047146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03F152-2AF9-41C6-AC69-FDD52DCB5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789737"/>
              </p:ext>
            </p:extLst>
          </p:nvPr>
        </p:nvGraphicFramePr>
        <p:xfrm>
          <a:off x="915159" y="528089"/>
          <a:ext cx="816182" cy="639712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BDC00A-9B3F-425C-A483-090DF37E5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855640"/>
              </p:ext>
            </p:extLst>
          </p:nvPr>
        </p:nvGraphicFramePr>
        <p:xfrm>
          <a:off x="1731340" y="528089"/>
          <a:ext cx="816182" cy="639712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856E74-907E-48E9-A5C0-2016FAFEF051}"/>
              </a:ext>
            </a:extLst>
          </p:cNvPr>
          <p:cNvCxnSpPr>
            <a:cxnSpLocks/>
          </p:cNvCxnSpPr>
          <p:nvPr/>
        </p:nvCxnSpPr>
        <p:spPr>
          <a:xfrm>
            <a:off x="2547522" y="606515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F4C016-A391-415B-AEA2-EAC35C6D3D9C}"/>
              </a:ext>
            </a:extLst>
          </p:cNvPr>
          <p:cNvCxnSpPr>
            <a:cxnSpLocks/>
          </p:cNvCxnSpPr>
          <p:nvPr/>
        </p:nvCxnSpPr>
        <p:spPr>
          <a:xfrm>
            <a:off x="2547522" y="765265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39F4FB-F456-4DB3-B3EE-767586101308}"/>
              </a:ext>
            </a:extLst>
          </p:cNvPr>
          <p:cNvCxnSpPr>
            <a:cxnSpLocks/>
          </p:cNvCxnSpPr>
          <p:nvPr/>
        </p:nvCxnSpPr>
        <p:spPr>
          <a:xfrm>
            <a:off x="2547522" y="939210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92FA70-F7A7-4C84-A67E-47F39D4B0E7F}"/>
              </a:ext>
            </a:extLst>
          </p:cNvPr>
          <p:cNvCxnSpPr>
            <a:cxnSpLocks/>
          </p:cNvCxnSpPr>
          <p:nvPr/>
        </p:nvCxnSpPr>
        <p:spPr>
          <a:xfrm>
            <a:off x="2547522" y="1078910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B1F332-DB64-49CB-87FA-71E213E25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645409"/>
              </p:ext>
            </p:extLst>
          </p:nvPr>
        </p:nvGraphicFramePr>
        <p:xfrm>
          <a:off x="3363703" y="528089"/>
          <a:ext cx="816182" cy="639712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3754895154"/>
                    </a:ext>
                  </a:extLst>
                </a:gridCol>
              </a:tblGrid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00220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204748"/>
                  </a:ext>
                </a:extLst>
              </a:tr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913571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77157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0F7748E-08A4-42DD-A704-4F13AF18B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794857"/>
              </p:ext>
            </p:extLst>
          </p:nvPr>
        </p:nvGraphicFramePr>
        <p:xfrm>
          <a:off x="915159" y="1290087"/>
          <a:ext cx="816182" cy="639712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CBEBABF-212B-4A78-9FB1-65D7D6775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40074"/>
              </p:ext>
            </p:extLst>
          </p:nvPr>
        </p:nvGraphicFramePr>
        <p:xfrm>
          <a:off x="1731340" y="1290087"/>
          <a:ext cx="816182" cy="639712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036692-6DBE-4FA7-8555-39D8806FCA57}"/>
              </a:ext>
            </a:extLst>
          </p:cNvPr>
          <p:cNvCxnSpPr>
            <a:cxnSpLocks/>
          </p:cNvCxnSpPr>
          <p:nvPr/>
        </p:nvCxnSpPr>
        <p:spPr>
          <a:xfrm>
            <a:off x="2547522" y="1381213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F4D1DA5-1884-435E-9224-590D3F026491}"/>
              </a:ext>
            </a:extLst>
          </p:cNvPr>
          <p:cNvCxnSpPr>
            <a:cxnSpLocks/>
          </p:cNvCxnSpPr>
          <p:nvPr/>
        </p:nvCxnSpPr>
        <p:spPr>
          <a:xfrm>
            <a:off x="2547522" y="1546313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3BD0EF0-9901-46C4-B313-008500A6F81C}"/>
              </a:ext>
            </a:extLst>
          </p:cNvPr>
          <p:cNvCxnSpPr>
            <a:cxnSpLocks/>
          </p:cNvCxnSpPr>
          <p:nvPr/>
        </p:nvCxnSpPr>
        <p:spPr>
          <a:xfrm>
            <a:off x="2547522" y="1707558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6EA927-0CF7-40AC-8AC0-DC9DF11EB14C}"/>
              </a:ext>
            </a:extLst>
          </p:cNvPr>
          <p:cNvCxnSpPr>
            <a:cxnSpLocks/>
          </p:cNvCxnSpPr>
          <p:nvPr/>
        </p:nvCxnSpPr>
        <p:spPr>
          <a:xfrm>
            <a:off x="2547522" y="1847258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B8858AF-1795-4A5F-A98D-FB9A7B7CB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352915"/>
              </p:ext>
            </p:extLst>
          </p:nvPr>
        </p:nvGraphicFramePr>
        <p:xfrm>
          <a:off x="3363703" y="1290087"/>
          <a:ext cx="816182" cy="639712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3754895154"/>
                    </a:ext>
                  </a:extLst>
                </a:gridCol>
              </a:tblGrid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00220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204748"/>
                  </a:ext>
                </a:extLst>
              </a:tr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913571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77157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4C7C3F8-21EE-487A-9F44-5513C7626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596830"/>
              </p:ext>
            </p:extLst>
          </p:nvPr>
        </p:nvGraphicFramePr>
        <p:xfrm>
          <a:off x="915158" y="2281288"/>
          <a:ext cx="816182" cy="639712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D87DD4E-BC88-478E-8F80-321F2BFC0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024314"/>
              </p:ext>
            </p:extLst>
          </p:nvPr>
        </p:nvGraphicFramePr>
        <p:xfrm>
          <a:off x="1731339" y="2281288"/>
          <a:ext cx="816182" cy="639712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E7BE09-9986-4824-B138-8A4716C5EEA3}"/>
              </a:ext>
            </a:extLst>
          </p:cNvPr>
          <p:cNvCxnSpPr>
            <a:cxnSpLocks/>
          </p:cNvCxnSpPr>
          <p:nvPr/>
        </p:nvCxnSpPr>
        <p:spPr>
          <a:xfrm>
            <a:off x="2547521" y="2372414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E19E223-9058-49C6-8B22-D4ADB880B6D1}"/>
              </a:ext>
            </a:extLst>
          </p:cNvPr>
          <p:cNvCxnSpPr>
            <a:cxnSpLocks/>
          </p:cNvCxnSpPr>
          <p:nvPr/>
        </p:nvCxnSpPr>
        <p:spPr>
          <a:xfrm>
            <a:off x="2547521" y="2537514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6CB0B3B-886F-4FCC-881D-BD522C0AD536}"/>
              </a:ext>
            </a:extLst>
          </p:cNvPr>
          <p:cNvCxnSpPr>
            <a:cxnSpLocks/>
          </p:cNvCxnSpPr>
          <p:nvPr/>
        </p:nvCxnSpPr>
        <p:spPr>
          <a:xfrm>
            <a:off x="2547521" y="2698759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8CD448A-7B2A-4A26-9A36-721989116958}"/>
              </a:ext>
            </a:extLst>
          </p:cNvPr>
          <p:cNvCxnSpPr>
            <a:cxnSpLocks/>
          </p:cNvCxnSpPr>
          <p:nvPr/>
        </p:nvCxnSpPr>
        <p:spPr>
          <a:xfrm>
            <a:off x="2547521" y="2838459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3596A68-A45F-41F0-94E6-F972853A6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308735"/>
              </p:ext>
            </p:extLst>
          </p:nvPr>
        </p:nvGraphicFramePr>
        <p:xfrm>
          <a:off x="3363702" y="2281288"/>
          <a:ext cx="816182" cy="639712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3754895154"/>
                    </a:ext>
                  </a:extLst>
                </a:gridCol>
              </a:tblGrid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00220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204748"/>
                  </a:ext>
                </a:extLst>
              </a:tr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913571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771577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B92ED51-B72C-4B21-9864-6A042F043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676449"/>
              </p:ext>
            </p:extLst>
          </p:nvPr>
        </p:nvGraphicFramePr>
        <p:xfrm>
          <a:off x="915157" y="3525887"/>
          <a:ext cx="816182" cy="639712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08410CB-7F0A-452B-B794-F47D62EE6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126118"/>
              </p:ext>
            </p:extLst>
          </p:nvPr>
        </p:nvGraphicFramePr>
        <p:xfrm>
          <a:off x="1731338" y="3525887"/>
          <a:ext cx="816182" cy="639712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2954574288"/>
                    </a:ext>
                  </a:extLst>
                </a:gridCol>
              </a:tblGrid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79106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623085"/>
                  </a:ext>
                </a:extLst>
              </a:tr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1665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8439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6306009-0903-41ED-982F-4BEF47924E8E}"/>
              </a:ext>
            </a:extLst>
          </p:cNvPr>
          <p:cNvCxnSpPr>
            <a:cxnSpLocks/>
          </p:cNvCxnSpPr>
          <p:nvPr/>
        </p:nvCxnSpPr>
        <p:spPr>
          <a:xfrm>
            <a:off x="2547520" y="3617013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AFF3B94-08C3-4849-AF92-D01FF8C341DD}"/>
              </a:ext>
            </a:extLst>
          </p:cNvPr>
          <p:cNvCxnSpPr>
            <a:cxnSpLocks/>
          </p:cNvCxnSpPr>
          <p:nvPr/>
        </p:nvCxnSpPr>
        <p:spPr>
          <a:xfrm>
            <a:off x="2547520" y="3782113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3773697-6C52-43DF-B310-337F4C17693E}"/>
              </a:ext>
            </a:extLst>
          </p:cNvPr>
          <p:cNvCxnSpPr>
            <a:cxnSpLocks/>
          </p:cNvCxnSpPr>
          <p:nvPr/>
        </p:nvCxnSpPr>
        <p:spPr>
          <a:xfrm>
            <a:off x="2547520" y="3943358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2897B5B-8C02-4AFE-AD57-29494C934966}"/>
              </a:ext>
            </a:extLst>
          </p:cNvPr>
          <p:cNvCxnSpPr>
            <a:cxnSpLocks/>
          </p:cNvCxnSpPr>
          <p:nvPr/>
        </p:nvCxnSpPr>
        <p:spPr>
          <a:xfrm>
            <a:off x="2547520" y="4083058"/>
            <a:ext cx="858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904CE2B-2660-4BF2-B62A-D024D724E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978454"/>
              </p:ext>
            </p:extLst>
          </p:nvPr>
        </p:nvGraphicFramePr>
        <p:xfrm>
          <a:off x="3363701" y="3525887"/>
          <a:ext cx="816182" cy="639712"/>
        </p:xfrm>
        <a:graphic>
          <a:graphicData uri="http://schemas.openxmlformats.org/drawingml/2006/table">
            <a:tbl>
              <a:tblPr firstRow="1" firstCol="1" bandRow="1"/>
              <a:tblGrid>
                <a:gridCol w="816182">
                  <a:extLst>
                    <a:ext uri="{9D8B030D-6E8A-4147-A177-3AD203B41FA5}">
                      <a16:colId xmlns:a16="http://schemas.microsoft.com/office/drawing/2014/main" val="3754895154"/>
                    </a:ext>
                  </a:extLst>
                </a:gridCol>
              </a:tblGrid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00220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204748"/>
                  </a:ext>
                </a:extLst>
              </a:tr>
              <a:tr h="16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913571"/>
                  </a:ext>
                </a:extLst>
              </a:tr>
              <a:tr h="155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Block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771577"/>
                  </a:ext>
                </a:extLst>
              </a:tr>
            </a:tbl>
          </a:graphicData>
        </a:graphic>
      </p:graphicFrame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C53828C-F993-4B6F-BEDA-684EE1B130E9}"/>
              </a:ext>
            </a:extLst>
          </p:cNvPr>
          <p:cNvCxnSpPr/>
          <p:nvPr/>
        </p:nvCxnSpPr>
        <p:spPr>
          <a:xfrm>
            <a:off x="215900" y="2222500"/>
            <a:ext cx="534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07B0F80-B92F-487B-872F-4DDD53B6EAF1}"/>
              </a:ext>
            </a:extLst>
          </p:cNvPr>
          <p:cNvCxnSpPr/>
          <p:nvPr/>
        </p:nvCxnSpPr>
        <p:spPr>
          <a:xfrm>
            <a:off x="215900" y="3467100"/>
            <a:ext cx="534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545EC8A-44BC-47FC-829F-8BB441AC7D82}"/>
              </a:ext>
            </a:extLst>
          </p:cNvPr>
          <p:cNvCxnSpPr/>
          <p:nvPr/>
        </p:nvCxnSpPr>
        <p:spPr>
          <a:xfrm>
            <a:off x="5321300" y="381000"/>
            <a:ext cx="0" cy="18415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8956347-DA33-445A-BAAA-173A389F6512}"/>
              </a:ext>
            </a:extLst>
          </p:cNvPr>
          <p:cNvCxnSpPr>
            <a:cxnSpLocks/>
          </p:cNvCxnSpPr>
          <p:nvPr/>
        </p:nvCxnSpPr>
        <p:spPr>
          <a:xfrm>
            <a:off x="5321300" y="2222500"/>
            <a:ext cx="0" cy="1244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D15290F-7A08-4E9D-9769-BED8B67B5EB8}"/>
              </a:ext>
            </a:extLst>
          </p:cNvPr>
          <p:cNvCxnSpPr>
            <a:cxnSpLocks/>
          </p:cNvCxnSpPr>
          <p:nvPr/>
        </p:nvCxnSpPr>
        <p:spPr>
          <a:xfrm>
            <a:off x="5321300" y="3467100"/>
            <a:ext cx="0" cy="10703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BAC14DC-D39A-498A-9517-747DF4A4940F}"/>
              </a:ext>
            </a:extLst>
          </p:cNvPr>
          <p:cNvCxnSpPr/>
          <p:nvPr/>
        </p:nvCxnSpPr>
        <p:spPr>
          <a:xfrm>
            <a:off x="2851150" y="1929799"/>
            <a:ext cx="0" cy="18475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CC190F3-E788-4392-AA16-E3764BED555F}"/>
              </a:ext>
            </a:extLst>
          </p:cNvPr>
          <p:cNvCxnSpPr/>
          <p:nvPr/>
        </p:nvCxnSpPr>
        <p:spPr>
          <a:xfrm>
            <a:off x="2851150" y="3136299"/>
            <a:ext cx="0" cy="18475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DCECCEB-590E-44A3-B01A-A0EB4D81ACE5}"/>
              </a:ext>
            </a:extLst>
          </p:cNvPr>
          <p:cNvCxnSpPr/>
          <p:nvPr/>
        </p:nvCxnSpPr>
        <p:spPr>
          <a:xfrm>
            <a:off x="2844800" y="4253899"/>
            <a:ext cx="0" cy="18475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A2E5C37-D778-4C26-AB81-E70701D9CBB9}"/>
              </a:ext>
            </a:extLst>
          </p:cNvPr>
          <p:cNvSpPr txBox="1"/>
          <p:nvPr/>
        </p:nvSpPr>
        <p:spPr>
          <a:xfrm>
            <a:off x="4324350" y="723766"/>
            <a:ext cx="9158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Doppler Chirp 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AA27A5-D3D6-45F1-B022-796A6C68BD10}"/>
              </a:ext>
            </a:extLst>
          </p:cNvPr>
          <p:cNvSpPr txBox="1"/>
          <p:nvPr/>
        </p:nvSpPr>
        <p:spPr>
          <a:xfrm>
            <a:off x="4324350" y="1400259"/>
            <a:ext cx="9158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Doppler Chirp 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1C1E68-20A2-4C15-92D9-5C641FC1DC8E}"/>
              </a:ext>
            </a:extLst>
          </p:cNvPr>
          <p:cNvSpPr txBox="1"/>
          <p:nvPr/>
        </p:nvSpPr>
        <p:spPr>
          <a:xfrm>
            <a:off x="4324350" y="2515202"/>
            <a:ext cx="9158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Doppler Chirp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082B09-C84E-448B-8E2D-2F7F254662BD}"/>
              </a:ext>
            </a:extLst>
          </p:cNvPr>
          <p:cNvSpPr txBox="1"/>
          <p:nvPr/>
        </p:nvSpPr>
        <p:spPr>
          <a:xfrm>
            <a:off x="4324350" y="3760632"/>
            <a:ext cx="9158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Doppler Chirp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D59404-C0E7-4917-B8B4-994AF6B8CCBE}"/>
              </a:ext>
            </a:extLst>
          </p:cNvPr>
          <p:cNvSpPr txBox="1"/>
          <p:nvPr/>
        </p:nvSpPr>
        <p:spPr>
          <a:xfrm>
            <a:off x="2844799" y="1940376"/>
            <a:ext cx="9778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 Doppler Chirps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081E5D-AC7B-43F9-8377-874F6FB4FE9D}"/>
              </a:ext>
            </a:extLst>
          </p:cNvPr>
          <p:cNvSpPr txBox="1"/>
          <p:nvPr/>
        </p:nvSpPr>
        <p:spPr>
          <a:xfrm>
            <a:off x="2844585" y="3108869"/>
            <a:ext cx="9778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 Doppler Chirps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A97706-309E-4114-954E-FDD61A822B90}"/>
              </a:ext>
            </a:extLst>
          </p:cNvPr>
          <p:cNvSpPr txBox="1"/>
          <p:nvPr/>
        </p:nvSpPr>
        <p:spPr>
          <a:xfrm>
            <a:off x="2844584" y="4253899"/>
            <a:ext cx="9778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 Doppler Chirps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33C51D-C649-4BBD-A752-10C9F8950E76}"/>
              </a:ext>
            </a:extLst>
          </p:cNvPr>
          <p:cNvSpPr txBox="1"/>
          <p:nvPr/>
        </p:nvSpPr>
        <p:spPr>
          <a:xfrm>
            <a:off x="5402397" y="1158496"/>
            <a:ext cx="3951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Tx1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02A57F-C341-4FFC-BDBA-05AE755C84B7}"/>
              </a:ext>
            </a:extLst>
          </p:cNvPr>
          <p:cNvSpPr txBox="1"/>
          <p:nvPr/>
        </p:nvSpPr>
        <p:spPr>
          <a:xfrm>
            <a:off x="5384670" y="2698759"/>
            <a:ext cx="3951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Tx2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190D55-A8EC-4B4F-A322-60D2A355392F}"/>
              </a:ext>
            </a:extLst>
          </p:cNvPr>
          <p:cNvSpPr txBox="1"/>
          <p:nvPr/>
        </p:nvSpPr>
        <p:spPr>
          <a:xfrm>
            <a:off x="5408019" y="3877282"/>
            <a:ext cx="3951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Tx3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4B620C1-B399-419C-83FE-71ADA5C9BC65}"/>
              </a:ext>
            </a:extLst>
          </p:cNvPr>
          <p:cNvSpPr/>
          <p:nvPr/>
        </p:nvSpPr>
        <p:spPr>
          <a:xfrm>
            <a:off x="739048" y="381000"/>
            <a:ext cx="3625844" cy="41645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FC5DAB0-BF23-4B86-A7F1-C805E165A80B}"/>
              </a:ext>
            </a:extLst>
          </p:cNvPr>
          <p:cNvCxnSpPr>
            <a:cxnSpLocks/>
          </p:cNvCxnSpPr>
          <p:nvPr/>
        </p:nvCxnSpPr>
        <p:spPr>
          <a:xfrm>
            <a:off x="556665" y="594346"/>
            <a:ext cx="0" cy="549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C30DF96-442E-4F47-A01D-D5C509F3F8EB}"/>
              </a:ext>
            </a:extLst>
          </p:cNvPr>
          <p:cNvSpPr txBox="1"/>
          <p:nvPr/>
        </p:nvSpPr>
        <p:spPr>
          <a:xfrm rot="16200000">
            <a:off x="-3198" y="644242"/>
            <a:ext cx="8050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RxAnt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51F9364-3FA6-4018-8D64-5F066F223210}"/>
              </a:ext>
            </a:extLst>
          </p:cNvPr>
          <p:cNvCxnSpPr>
            <a:cxnSpLocks/>
          </p:cNvCxnSpPr>
          <p:nvPr/>
        </p:nvCxnSpPr>
        <p:spPr>
          <a:xfrm>
            <a:off x="553695" y="1351652"/>
            <a:ext cx="0" cy="549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A6F1691-649A-481F-8B32-4F2D7332CD6D}"/>
              </a:ext>
            </a:extLst>
          </p:cNvPr>
          <p:cNvSpPr txBox="1"/>
          <p:nvPr/>
        </p:nvSpPr>
        <p:spPr>
          <a:xfrm rot="16200000">
            <a:off x="-6168" y="1401548"/>
            <a:ext cx="8050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RxAnt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0737566-4B2E-43BF-BE9C-830FF11BC550}"/>
              </a:ext>
            </a:extLst>
          </p:cNvPr>
          <p:cNvCxnSpPr>
            <a:cxnSpLocks/>
          </p:cNvCxnSpPr>
          <p:nvPr/>
        </p:nvCxnSpPr>
        <p:spPr>
          <a:xfrm>
            <a:off x="553695" y="2354040"/>
            <a:ext cx="0" cy="549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1B64145-AB3B-4E0F-A90B-2FA10937DD9E}"/>
              </a:ext>
            </a:extLst>
          </p:cNvPr>
          <p:cNvSpPr txBox="1"/>
          <p:nvPr/>
        </p:nvSpPr>
        <p:spPr>
          <a:xfrm rot="16200000">
            <a:off x="-6168" y="2403936"/>
            <a:ext cx="8050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RxAnt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5EE1630-047E-4B6F-9039-7959815ED052}"/>
              </a:ext>
            </a:extLst>
          </p:cNvPr>
          <p:cNvCxnSpPr>
            <a:cxnSpLocks/>
          </p:cNvCxnSpPr>
          <p:nvPr/>
        </p:nvCxnSpPr>
        <p:spPr>
          <a:xfrm>
            <a:off x="553695" y="3595697"/>
            <a:ext cx="0" cy="549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D9B1F2B-C426-46FF-A413-F50C5580E341}"/>
              </a:ext>
            </a:extLst>
          </p:cNvPr>
          <p:cNvSpPr txBox="1"/>
          <p:nvPr/>
        </p:nvSpPr>
        <p:spPr>
          <a:xfrm rot="16200000">
            <a:off x="-6168" y="3645593"/>
            <a:ext cx="8050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RxAnt</a:t>
            </a:r>
          </a:p>
        </p:txBody>
      </p:sp>
      <p:sp>
        <p:nvSpPr>
          <p:cNvPr id="60" name="Rectangle 2">
            <a:extLst>
              <a:ext uri="{FF2B5EF4-FFF2-40B4-BE49-F238E27FC236}">
                <a16:creationId xmlns:a16="http://schemas.microsoft.com/office/drawing/2014/main" id="{4B25AA49-D04A-4AAF-9DE9-ADDB7F2757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67785" y="679296"/>
            <a:ext cx="2684590" cy="1261080"/>
          </a:xfrm>
        </p:spPr>
        <p:txBody>
          <a:bodyPr/>
          <a:lstStyle/>
          <a:p>
            <a:r>
              <a:rPr lang="en-US" dirty="0"/>
              <a:t>Compressed </a:t>
            </a:r>
            <a:r>
              <a:rPr lang="en-US" dirty="0" err="1"/>
              <a:t>RadarCube</a:t>
            </a:r>
            <a:r>
              <a:rPr lang="en-US" dirty="0"/>
              <a:t> – Format 2 </a:t>
            </a:r>
          </a:p>
        </p:txBody>
      </p:sp>
    </p:spTree>
    <p:extLst>
      <p:ext uri="{BB962C8B-B14F-4D97-AF65-F5344CB8AC3E}">
        <p14:creationId xmlns:p14="http://schemas.microsoft.com/office/powerpoint/2010/main" val="325609021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-new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efault Theme-new" id="{4B444CA8-5089-4C8C-A892-5383A8EDC2CD}" vid="{B9F702C9-368E-4FE6-9D0C-1E6C532F79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336</TotalTime>
  <Words>1169</Words>
  <Application>Microsoft Office PowerPoint</Application>
  <PresentationFormat>On-screen Show (16:9)</PresentationFormat>
  <Paragraphs>773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Narrow</vt:lpstr>
      <vt:lpstr>Calibri</vt:lpstr>
      <vt:lpstr>Times New Roman</vt:lpstr>
      <vt:lpstr>Default Theme-new</vt:lpstr>
      <vt:lpstr>DDMA DPU Diagrams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Doppler FFT DMA Transfer</vt:lpstr>
      <vt:lpstr>DDMA Metric</vt:lpstr>
      <vt:lpstr>DDMA Demod – Example</vt:lpstr>
      <vt:lpstr>Compressed RadarCube – Format 2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Range DDMA DPU Diagrams</dc:title>
  <dc:creator>Sood, Pourush</dc:creator>
  <cp:lastModifiedBy>Sood, Pourush</cp:lastModifiedBy>
  <cp:revision>2</cp:revision>
  <dcterms:created xsi:type="dcterms:W3CDTF">2022-03-10T06:32:41Z</dcterms:created>
  <dcterms:modified xsi:type="dcterms:W3CDTF">2022-03-10T12:08:51Z</dcterms:modified>
</cp:coreProperties>
</file>